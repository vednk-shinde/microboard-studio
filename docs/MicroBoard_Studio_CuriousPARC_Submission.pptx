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2134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4445">
            <a:solidFill>
              <a:srgbClr val="2134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4445">
            <a:solidFill>
              <a:srgbClr val="2134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4445">
            <a:solidFill>
              <a:srgbClr val="2134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4445">
            <a:solidFill>
              <a:srgbClr val="2134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4445">
            <a:solidFill>
              <a:srgbClr val="2134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4445">
            <a:solidFill>
              <a:srgbClr val="2134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4445">
            <a:solidFill>
              <a:srgbClr val="2134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4445">
            <a:solidFill>
              <a:srgbClr val="2134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4445">
            <a:solidFill>
              <a:srgbClr val="2134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4445">
            <a:solidFill>
              <a:srgbClr val="2134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4445">
            <a:solidFill>
              <a:srgbClr val="2134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4445">
            <a:solidFill>
              <a:srgbClr val="2134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4445">
            <a:solidFill>
              <a:srgbClr val="2134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2134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4445">
            <a:solidFill>
              <a:srgbClr val="2134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4445">
            <a:solidFill>
              <a:srgbClr val="2134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4445">
            <a:solidFill>
              <a:srgbClr val="2134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3657600"/>
            <a:ext cx="12191695" cy="0"/>
          </a:xfrm>
          <a:prstGeom prst="line">
            <a:avLst/>
          </a:prstGeom>
          <a:ln w="4445">
            <a:solidFill>
              <a:srgbClr val="2134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4445">
            <a:solidFill>
              <a:srgbClr val="2134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4445">
            <a:solidFill>
              <a:srgbClr val="2134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4445">
            <a:solidFill>
              <a:srgbClr val="2134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66928" y="475488"/>
            <a:ext cx="2514600" cy="347472"/>
          </a:xfrm>
          <a:prstGeom prst="roundRect">
            <a:avLst>
              <a:gd name="adj" fmla="val 12000"/>
            </a:avLst>
          </a:prstGeom>
          <a:solidFill>
            <a:srgbClr val="AFEB53"/>
          </a:solidFill>
          <a:ln>
            <a:solidFill>
              <a:srgbClr val="AFE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484632"/>
            <a:ext cx="2514600" cy="3383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ctr"/>
            <a:r>
              <a:rPr sz="1000" b="1" i="0">
                <a:solidFill>
                  <a:srgbClr val="070D18"/>
                </a:solidFill>
                <a:latin typeface="Aptos"/>
              </a:rPr>
              <a:t>THEME 07  •  BUILD YOUR OWN BOARDS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1261872"/>
            <a:ext cx="69494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4200" b="1" i="0">
                <a:solidFill>
                  <a:srgbClr val="F4F8FC"/>
                </a:solidFill>
                <a:latin typeface="Aptos Display"/>
              </a:rPr>
              <a:t>MICROBOARD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1901952"/>
            <a:ext cx="69494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4200" b="1" i="0">
                <a:solidFill>
                  <a:srgbClr val="2BD3E7"/>
                </a:solidFill>
                <a:latin typeface="Aptos Display"/>
              </a:rPr>
              <a:t>STUDIO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2724912"/>
            <a:ext cx="5943600" cy="960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200" b="0" i="0">
                <a:solidFill>
                  <a:srgbClr val="A4B5C7"/>
                </a:solidFill>
                <a:latin typeface="Aptos"/>
              </a:rPr>
              <a:t>The bridge between Arduino code,
MCU internals and the real board.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43800" y="1005840"/>
            <a:ext cx="3886200" cy="4800600"/>
          </a:xfrm>
          <a:prstGeom prst="roundRect">
            <a:avLst>
              <a:gd name="adj" fmla="val 12000"/>
            </a:avLst>
          </a:prstGeom>
          <a:solidFill>
            <a:srgbClr val="111D2F"/>
          </a:solidFill>
          <a:ln>
            <a:solidFill>
              <a:srgbClr val="21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818120" y="1298448"/>
            <a:ext cx="3337560" cy="475488"/>
          </a:xfrm>
          <a:prstGeom prst="roundRect">
            <a:avLst>
              <a:gd name="adj" fmla="val 12000"/>
            </a:avLst>
          </a:prstGeom>
          <a:solidFill>
            <a:srgbClr val="15253B"/>
          </a:solidFill>
          <a:ln>
            <a:solidFill>
              <a:srgbClr val="21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73568" y="1408176"/>
            <a:ext cx="21031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000" b="1" i="0">
                <a:solidFill>
                  <a:srgbClr val="F4F8FC"/>
                </a:solidFill>
                <a:latin typeface="Aptos"/>
              </a:rPr>
              <a:t>MICROBOARD  //  LIVE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55480" y="1380744"/>
            <a:ext cx="1234440" cy="228600"/>
          </a:xfrm>
          <a:prstGeom prst="roundRect">
            <a:avLst>
              <a:gd name="adj" fmla="val 12000"/>
            </a:avLst>
          </a:prstGeom>
          <a:solidFill>
            <a:srgbClr val="AFEB53"/>
          </a:solidFill>
          <a:ln>
            <a:solidFill>
              <a:srgbClr val="AFE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55480" y="1389888"/>
            <a:ext cx="123444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ctr"/>
            <a:r>
              <a:rPr sz="700" b="1" i="0">
                <a:solidFill>
                  <a:srgbClr val="070D18"/>
                </a:solidFill>
                <a:latin typeface="Aptos"/>
              </a:rPr>
              <a:t>USB CONNECTED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41080" y="2121408"/>
            <a:ext cx="1600200" cy="1143000"/>
          </a:xfrm>
          <a:prstGeom prst="roundRect">
            <a:avLst>
              <a:gd name="adj" fmla="val 12000"/>
            </a:avLst>
          </a:prstGeom>
          <a:solidFill>
            <a:srgbClr val="0C1524"/>
          </a:solidFill>
          <a:ln>
            <a:solidFill>
              <a:srgbClr val="2BD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96528" y="2386584"/>
            <a:ext cx="12801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500" b="1" i="0">
                <a:solidFill>
                  <a:srgbClr val="F4F8FC"/>
                </a:solidFill>
                <a:latin typeface="Aptos"/>
              </a:rPr>
              <a:t>ATmega328P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96528" y="2706624"/>
            <a:ext cx="12801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900" b="0" i="0">
                <a:solidFill>
                  <a:srgbClr val="A4B5C7"/>
                </a:solidFill>
                <a:latin typeface="Aptos"/>
              </a:rPr>
              <a:t>MCU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55279" y="1901952"/>
            <a:ext cx="475488" cy="109728"/>
          </a:xfrm>
          <a:prstGeom prst="roundRect">
            <a:avLst>
              <a:gd name="adj" fmla="val 12000"/>
            </a:avLst>
          </a:prstGeom>
          <a:solidFill>
            <a:srgbClr val="21344B"/>
          </a:solidFill>
          <a:ln>
            <a:solidFill>
              <a:srgbClr val="21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424160" y="1901952"/>
            <a:ext cx="475488" cy="109728"/>
          </a:xfrm>
          <a:prstGeom prst="roundRect">
            <a:avLst>
              <a:gd name="adj" fmla="val 12000"/>
            </a:avLst>
          </a:prstGeom>
          <a:solidFill>
            <a:srgbClr val="21344B"/>
          </a:solidFill>
          <a:ln>
            <a:solidFill>
              <a:srgbClr val="21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955279" y="2295144"/>
            <a:ext cx="475488" cy="109728"/>
          </a:xfrm>
          <a:prstGeom prst="roundRect">
            <a:avLst>
              <a:gd name="adj" fmla="val 12000"/>
            </a:avLst>
          </a:prstGeom>
          <a:solidFill>
            <a:srgbClr val="21344B"/>
          </a:solidFill>
          <a:ln>
            <a:solidFill>
              <a:srgbClr val="21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0424160" y="2295144"/>
            <a:ext cx="475488" cy="109728"/>
          </a:xfrm>
          <a:prstGeom prst="roundRect">
            <a:avLst>
              <a:gd name="adj" fmla="val 12000"/>
            </a:avLst>
          </a:prstGeom>
          <a:solidFill>
            <a:srgbClr val="21344B"/>
          </a:solidFill>
          <a:ln>
            <a:solidFill>
              <a:srgbClr val="21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955279" y="2688336"/>
            <a:ext cx="475488" cy="109728"/>
          </a:xfrm>
          <a:prstGeom prst="roundRect">
            <a:avLst>
              <a:gd name="adj" fmla="val 12000"/>
            </a:avLst>
          </a:prstGeom>
          <a:solidFill>
            <a:srgbClr val="21344B"/>
          </a:solidFill>
          <a:ln>
            <a:solidFill>
              <a:srgbClr val="21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0424160" y="2688336"/>
            <a:ext cx="475488" cy="109728"/>
          </a:xfrm>
          <a:prstGeom prst="roundRect">
            <a:avLst>
              <a:gd name="adj" fmla="val 12000"/>
            </a:avLst>
          </a:prstGeom>
          <a:solidFill>
            <a:srgbClr val="21344B"/>
          </a:solidFill>
          <a:ln>
            <a:solidFill>
              <a:srgbClr val="21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955279" y="3081528"/>
            <a:ext cx="475488" cy="109728"/>
          </a:xfrm>
          <a:prstGeom prst="roundRect">
            <a:avLst>
              <a:gd name="adj" fmla="val 12000"/>
            </a:avLst>
          </a:prstGeom>
          <a:solidFill>
            <a:srgbClr val="21344B"/>
          </a:solidFill>
          <a:ln>
            <a:solidFill>
              <a:srgbClr val="21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0424160" y="3081528"/>
            <a:ext cx="475488" cy="109728"/>
          </a:xfrm>
          <a:prstGeom prst="roundRect">
            <a:avLst>
              <a:gd name="adj" fmla="val 12000"/>
            </a:avLst>
          </a:prstGeom>
          <a:solidFill>
            <a:srgbClr val="21344B"/>
          </a:solidFill>
          <a:ln>
            <a:solidFill>
              <a:srgbClr val="21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7955279" y="3474720"/>
            <a:ext cx="475488" cy="109728"/>
          </a:xfrm>
          <a:prstGeom prst="roundRect">
            <a:avLst>
              <a:gd name="adj" fmla="val 12000"/>
            </a:avLst>
          </a:prstGeom>
          <a:solidFill>
            <a:srgbClr val="2BD3E7"/>
          </a:solidFill>
          <a:ln>
            <a:solidFill>
              <a:srgbClr val="2BD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0424160" y="3474720"/>
            <a:ext cx="475488" cy="109728"/>
          </a:xfrm>
          <a:prstGeom prst="roundRect">
            <a:avLst>
              <a:gd name="adj" fmla="val 12000"/>
            </a:avLst>
          </a:prstGeom>
          <a:solidFill>
            <a:srgbClr val="AFEB53"/>
          </a:solidFill>
          <a:ln>
            <a:solidFill>
              <a:srgbClr val="AFE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7955279" y="3867912"/>
            <a:ext cx="475488" cy="109728"/>
          </a:xfrm>
          <a:prstGeom prst="roundRect">
            <a:avLst>
              <a:gd name="adj" fmla="val 12000"/>
            </a:avLst>
          </a:prstGeom>
          <a:solidFill>
            <a:srgbClr val="2BD3E7"/>
          </a:solidFill>
          <a:ln>
            <a:solidFill>
              <a:srgbClr val="2BD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0424160" y="3867912"/>
            <a:ext cx="475488" cy="109728"/>
          </a:xfrm>
          <a:prstGeom prst="roundRect">
            <a:avLst>
              <a:gd name="adj" fmla="val 12000"/>
            </a:avLst>
          </a:prstGeom>
          <a:solidFill>
            <a:srgbClr val="AFEB53"/>
          </a:solidFill>
          <a:ln>
            <a:solidFill>
              <a:srgbClr val="AFE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7955279" y="4261104"/>
            <a:ext cx="475488" cy="109728"/>
          </a:xfrm>
          <a:prstGeom prst="roundRect">
            <a:avLst>
              <a:gd name="adj" fmla="val 12000"/>
            </a:avLst>
          </a:prstGeom>
          <a:solidFill>
            <a:srgbClr val="2BD3E7"/>
          </a:solidFill>
          <a:ln>
            <a:solidFill>
              <a:srgbClr val="2BD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10424160" y="4261104"/>
            <a:ext cx="475488" cy="109728"/>
          </a:xfrm>
          <a:prstGeom prst="roundRect">
            <a:avLst>
              <a:gd name="adj" fmla="val 12000"/>
            </a:avLst>
          </a:prstGeom>
          <a:solidFill>
            <a:srgbClr val="21344B"/>
          </a:solidFill>
          <a:ln>
            <a:solidFill>
              <a:srgbClr val="21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7955279" y="4654296"/>
            <a:ext cx="475488" cy="109728"/>
          </a:xfrm>
          <a:prstGeom prst="roundRect">
            <a:avLst>
              <a:gd name="adj" fmla="val 12000"/>
            </a:avLst>
          </a:prstGeom>
          <a:solidFill>
            <a:srgbClr val="21344B"/>
          </a:solidFill>
          <a:ln>
            <a:solidFill>
              <a:srgbClr val="21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0424160" y="4654296"/>
            <a:ext cx="475488" cy="109728"/>
          </a:xfrm>
          <a:prstGeom prst="roundRect">
            <a:avLst>
              <a:gd name="adj" fmla="val 12000"/>
            </a:avLst>
          </a:prstGeom>
          <a:solidFill>
            <a:srgbClr val="21344B"/>
          </a:solidFill>
          <a:ln>
            <a:solidFill>
              <a:srgbClr val="21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991856" y="4160520"/>
            <a:ext cx="548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100" b="1" i="0">
                <a:solidFill>
                  <a:srgbClr val="2BD3E7"/>
                </a:solidFill>
                <a:latin typeface="Aptos"/>
              </a:rPr>
              <a:t>D13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8549640" y="4270248"/>
            <a:ext cx="640080" cy="0"/>
          </a:xfrm>
          <a:prstGeom prst="line">
            <a:avLst/>
          </a:prstGeom>
          <a:ln w="25400">
            <a:solidFill>
              <a:srgbClr val="2BD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9235440" y="4160520"/>
            <a:ext cx="548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100" b="1" i="0">
                <a:solidFill>
                  <a:srgbClr val="2BD3E7"/>
                </a:solidFill>
                <a:latin typeface="Aptos"/>
              </a:rPr>
              <a:t>PB5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9802368" y="4270248"/>
            <a:ext cx="576072" cy="0"/>
          </a:xfrm>
          <a:prstGeom prst="line">
            <a:avLst/>
          </a:prstGeom>
          <a:ln w="25400">
            <a:solidFill>
              <a:srgbClr val="2BD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10405872" y="4160520"/>
            <a:ext cx="8686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100" b="1" i="0">
                <a:solidFill>
                  <a:srgbClr val="2BD3E7"/>
                </a:solidFill>
                <a:latin typeface="Aptos"/>
              </a:rPr>
              <a:t>PORTB5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73568" y="4754880"/>
            <a:ext cx="297180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100" b="1" i="0">
                <a:solidFill>
                  <a:srgbClr val="F4F8FC"/>
                </a:solidFill>
                <a:latin typeface="Aptos"/>
              </a:rPr>
              <a:t>CODE  →  REGISTER  →  PIN  →  PHYSICAL OUTPUT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4360" y="5230368"/>
            <a:ext cx="53035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1" i="0">
                <a:solidFill>
                  <a:srgbClr val="AFEB53"/>
                </a:solidFill>
                <a:latin typeface="Aptos"/>
              </a:rPr>
              <a:t>Interactive • Hardware-connected • Debuggable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502920" y="6519672"/>
            <a:ext cx="11183112" cy="0"/>
          </a:xfrm>
          <a:prstGeom prst="line">
            <a:avLst/>
          </a:prstGeom>
          <a:ln w="8890">
            <a:solidFill>
              <a:srgbClr val="2134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530352" y="6565392"/>
            <a:ext cx="59436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850" b="1" i="0">
                <a:solidFill>
                  <a:srgbClr val="A4B5C7"/>
                </a:solidFill>
                <a:latin typeface="Aptos"/>
              </a:rPr>
              <a:t>MICROBOARD STUDIO  •  CURIOUSPARC 2026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44" y="6830568"/>
            <a:ext cx="9144" cy="9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Basis: uploaded MicroBoard Studio project documentation + prototype code/firmware; hackathon context from CuriousPARC official site.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854964" cy="310896"/>
          </a:xfrm>
          <a:prstGeom prst="roundRect">
            <a:avLst>
              <a:gd name="adj" fmla="val 12000"/>
            </a:avLst>
          </a:prstGeom>
          <a:solidFill>
            <a:srgbClr val="2BD3E7"/>
          </a:solidFill>
          <a:ln>
            <a:solidFill>
              <a:srgbClr val="2BD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93192"/>
            <a:ext cx="854964" cy="3017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ctr"/>
            <a:r>
              <a:rPr sz="1000" b="1" i="0">
                <a:solidFill>
                  <a:srgbClr val="070D18"/>
                </a:solidFill>
                <a:latin typeface="Aptos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69848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900" b="1" i="0">
                <a:solidFill>
                  <a:srgbClr val="F4F8FC"/>
                </a:solidFill>
                <a:latin typeface="Aptos Display"/>
              </a:rPr>
              <a:t>Arduino makes hardware accessible. Understanding it is still opaque.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42416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 i="0">
                <a:solidFill>
                  <a:srgbClr val="A4B5C7"/>
                </a:solidFill>
                <a:latin typeface="Aptos"/>
              </a:rPr>
              <a:t>Static pinouts show *where* a pin is. They rarely show what the MCU is actually doing.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93192"/>
            <a:ext cx="502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1000" b="1" i="0">
                <a:solidFill>
                  <a:srgbClr val="A4B5C7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57400"/>
            <a:ext cx="3520440" cy="3246120"/>
          </a:xfrm>
          <a:prstGeom prst="roundRect">
            <a:avLst>
              <a:gd name="adj" fmla="val 12000"/>
            </a:avLst>
          </a:prstGeom>
          <a:solidFill>
            <a:srgbClr val="111D2F"/>
          </a:solidFill>
          <a:ln>
            <a:solidFill>
              <a:srgbClr val="21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2057400"/>
            <a:ext cx="64008" cy="3246120"/>
          </a:xfrm>
          <a:prstGeom prst="roundRect">
            <a:avLst>
              <a:gd name="adj" fmla="val 12000"/>
            </a:avLst>
          </a:prstGeom>
          <a:solidFill>
            <a:srgbClr val="2BD3E7"/>
          </a:solidFill>
          <a:ln>
            <a:solidFill>
              <a:srgbClr val="2BD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8096" y="2221992"/>
            <a:ext cx="594360" cy="246888"/>
          </a:xfrm>
          <a:prstGeom prst="roundRect">
            <a:avLst>
              <a:gd name="adj" fmla="val 12000"/>
            </a:avLst>
          </a:prstGeom>
          <a:solidFill>
            <a:srgbClr val="2BD3E7"/>
          </a:solidFill>
          <a:ln>
            <a:solidFill>
              <a:srgbClr val="2BD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2231136"/>
            <a:ext cx="594360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ctr"/>
            <a:r>
              <a:rPr sz="800" b="1" i="0">
                <a:solidFill>
                  <a:srgbClr val="070D18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560320"/>
            <a:ext cx="31089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600" b="1" i="0">
                <a:solidFill>
                  <a:srgbClr val="F4F8FC"/>
                </a:solidFill>
                <a:latin typeface="Aptos Display"/>
              </a:rPr>
              <a:t>Static pinout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999232"/>
            <a:ext cx="3108960" cy="2176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 i="0">
                <a:solidFill>
                  <a:srgbClr val="A4B5C7"/>
                </a:solidFill>
                <a:latin typeface="Aptos"/>
              </a:rPr>
              <a:t>Pin labels and alternate functions are listed, but the chain from Arduino API → MCU port/bit → register → physical output is hidden.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2057400"/>
            <a:ext cx="3520440" cy="3246120"/>
          </a:xfrm>
          <a:prstGeom prst="roundRect">
            <a:avLst>
              <a:gd name="adj" fmla="val 12000"/>
            </a:avLst>
          </a:prstGeom>
          <a:solidFill>
            <a:srgbClr val="111D2F"/>
          </a:solidFill>
          <a:ln>
            <a:solidFill>
              <a:srgbClr val="21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43400" y="2057400"/>
            <a:ext cx="64008" cy="3246120"/>
          </a:xfrm>
          <a:prstGeom prst="roundRect">
            <a:avLst>
              <a:gd name="adj" fmla="val 12000"/>
            </a:avLst>
          </a:prstGeom>
          <a:solidFill>
            <a:srgbClr val="FFAB4C"/>
          </a:solidFill>
          <a:ln>
            <a:solidFill>
              <a:srgbClr val="FFA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62856" y="2221992"/>
            <a:ext cx="594360" cy="246888"/>
          </a:xfrm>
          <a:prstGeom prst="roundRect">
            <a:avLst>
              <a:gd name="adj" fmla="val 12000"/>
            </a:avLst>
          </a:prstGeom>
          <a:solidFill>
            <a:srgbClr val="FFAB4C"/>
          </a:solidFill>
          <a:ln>
            <a:solidFill>
              <a:srgbClr val="FFA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62856" y="2231136"/>
            <a:ext cx="594360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ctr"/>
            <a:r>
              <a:rPr sz="800" b="1" i="0">
                <a:solidFill>
                  <a:srgbClr val="070D18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6" y="2560320"/>
            <a:ext cx="31089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600" b="1" i="0">
                <a:solidFill>
                  <a:srgbClr val="F4F8FC"/>
                </a:solidFill>
                <a:latin typeface="Aptos Display"/>
              </a:rPr>
              <a:t>Debugging by trial &amp; error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999232"/>
            <a:ext cx="3108960" cy="2176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 i="0">
                <a:solidFill>
                  <a:srgbClr val="A4B5C7"/>
                </a:solidFill>
                <a:latin typeface="Aptos"/>
              </a:rPr>
              <a:t>Students often discover pin conflicts, wrong modes and serial/hardware issues only after compiling, wiring and testing.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2057400"/>
            <a:ext cx="3520440" cy="3246120"/>
          </a:xfrm>
          <a:prstGeom prst="roundRect">
            <a:avLst>
              <a:gd name="adj" fmla="val 12000"/>
            </a:avLst>
          </a:prstGeom>
          <a:solidFill>
            <a:srgbClr val="111D2F"/>
          </a:solidFill>
          <a:ln>
            <a:solidFill>
              <a:srgbClr val="21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38160" y="2057400"/>
            <a:ext cx="64008" cy="3246120"/>
          </a:xfrm>
          <a:prstGeom prst="roundRect">
            <a:avLst>
              <a:gd name="adj" fmla="val 12000"/>
            </a:avLst>
          </a:prstGeom>
          <a:solidFill>
            <a:srgbClr val="AFEB53"/>
          </a:solidFill>
          <a:ln>
            <a:solidFill>
              <a:srgbClr val="AFE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357616" y="2221992"/>
            <a:ext cx="594360" cy="246888"/>
          </a:xfrm>
          <a:prstGeom prst="roundRect">
            <a:avLst>
              <a:gd name="adj" fmla="val 12000"/>
            </a:avLst>
          </a:prstGeom>
          <a:solidFill>
            <a:srgbClr val="AFEB53"/>
          </a:solidFill>
          <a:ln>
            <a:solidFill>
              <a:srgbClr val="AFE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57616" y="2231136"/>
            <a:ext cx="594360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ctr"/>
            <a:r>
              <a:rPr sz="800" b="1" i="0">
                <a:solidFill>
                  <a:srgbClr val="070D18"/>
                </a:solidFill>
                <a:latin typeface="Apto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7616" y="2560320"/>
            <a:ext cx="31089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600" b="1" i="0">
                <a:solidFill>
                  <a:srgbClr val="F4F8FC"/>
                </a:solidFill>
                <a:latin typeface="Aptos Display"/>
              </a:rPr>
              <a:t>Simulation ≠ reality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7616" y="2999232"/>
            <a:ext cx="3108960" cy="2176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 i="0">
                <a:solidFill>
                  <a:srgbClr val="A4B5C7"/>
                </a:solidFill>
                <a:latin typeface="Aptos"/>
              </a:rPr>
              <a:t>A simulator can demonstrate logic, but the real board has actual pins, registers, serial state and physical outputs.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09160" y="5623560"/>
            <a:ext cx="1097280" cy="292608"/>
          </a:xfrm>
          <a:prstGeom prst="roundRect">
            <a:avLst>
              <a:gd name="adj" fmla="val 12000"/>
            </a:avLst>
          </a:prstGeom>
          <a:solidFill>
            <a:srgbClr val="FF646E"/>
          </a:solidFill>
          <a:ln>
            <a:solidFill>
              <a:srgbClr val="FF6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09160" y="5632704"/>
            <a:ext cx="1097280" cy="2834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ctr"/>
            <a:r>
              <a:rPr sz="900" b="1" i="0">
                <a:solidFill>
                  <a:srgbClr val="F4F8FC"/>
                </a:solidFill>
                <a:latin typeface="Aptos"/>
              </a:rPr>
              <a:t>THE GAP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5596128"/>
            <a:ext cx="89611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600" b="1" i="0">
                <a:solidFill>
                  <a:srgbClr val="F4F8FC"/>
                </a:solidFill>
                <a:latin typeface="Aptos"/>
              </a:rPr>
              <a:t>“I wrote the code. What exactly changed inside the MCU — and did the real board do it?”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02920" y="6519672"/>
            <a:ext cx="11183112" cy="0"/>
          </a:xfrm>
          <a:prstGeom prst="line">
            <a:avLst/>
          </a:prstGeom>
          <a:ln w="8890">
            <a:solidFill>
              <a:srgbClr val="2134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30352" y="6565392"/>
            <a:ext cx="59436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850" b="1" i="0">
                <a:solidFill>
                  <a:srgbClr val="A4B5C7"/>
                </a:solidFill>
                <a:latin typeface="Aptos"/>
              </a:rPr>
              <a:t>MICROBOARD STUDIO  •  CURIOUSPARC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" y="6830568"/>
            <a:ext cx="9144" cy="9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Basis: uploaded MicroBoard Studio project documentation + prototype code/firmware; hackathon context from CuriousPARC official site.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932688" cy="310896"/>
          </a:xfrm>
          <a:prstGeom prst="roundRect">
            <a:avLst>
              <a:gd name="adj" fmla="val 12000"/>
            </a:avLst>
          </a:prstGeom>
          <a:solidFill>
            <a:srgbClr val="2BD3E7"/>
          </a:solidFill>
          <a:ln>
            <a:solidFill>
              <a:srgbClr val="2BD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93192"/>
            <a:ext cx="932688" cy="3017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ctr"/>
            <a:r>
              <a:rPr sz="1000" b="1" i="0">
                <a:solidFill>
                  <a:srgbClr val="070D18"/>
                </a:solidFill>
                <a:latin typeface="Aptos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69848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900" b="1" i="0">
                <a:solidFill>
                  <a:srgbClr val="F4F8FC"/>
                </a:solidFill>
                <a:latin typeface="Aptos Display"/>
              </a:rPr>
              <a:t>MicroBoard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42416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 i="0">
                <a:solidFill>
                  <a:srgbClr val="A4B5C7"/>
                </a:solidFill>
                <a:latin typeface="Aptos"/>
              </a:rPr>
              <a:t>An interactive learning + configuration layer that connects software intent to real hardware state.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93192"/>
            <a:ext cx="502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1000" b="1" i="0">
                <a:solidFill>
                  <a:srgbClr val="A4B5C7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240280"/>
            <a:ext cx="1828800" cy="1325880"/>
          </a:xfrm>
          <a:prstGeom prst="roundRect">
            <a:avLst>
              <a:gd name="adj" fmla="val 12000"/>
            </a:avLst>
          </a:prstGeom>
          <a:solidFill>
            <a:srgbClr val="15253B"/>
          </a:solidFill>
          <a:ln>
            <a:solidFill>
              <a:srgbClr val="21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386584"/>
            <a:ext cx="15544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500" b="1" i="0">
                <a:solidFill>
                  <a:srgbClr val="F4F8FC"/>
                </a:solidFill>
                <a:latin typeface="Aptos Display"/>
              </a:rPr>
              <a:t>LEARN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24912"/>
            <a:ext cx="1554480" cy="731519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000" b="0" i="0">
                <a:solidFill>
                  <a:srgbClr val="A4B5C7"/>
                </a:solidFill>
                <a:latin typeface="Aptos"/>
              </a:rPr>
              <a:t>Pin / peripheral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" y="3493008"/>
            <a:ext cx="1499616" cy="36576"/>
          </a:xfrm>
          <a:prstGeom prst="rect">
            <a:avLst/>
          </a:prstGeom>
          <a:solidFill>
            <a:srgbClr val="2BD3E7"/>
          </a:solidFill>
          <a:ln>
            <a:solidFill>
              <a:srgbClr val="2BD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2423160" y="2898648"/>
            <a:ext cx="411480" cy="0"/>
          </a:xfrm>
          <a:prstGeom prst="line">
            <a:avLst/>
          </a:prstGeom>
          <a:ln w="19050">
            <a:solidFill>
              <a:srgbClr val="A4B5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34640" y="2240280"/>
            <a:ext cx="1828800" cy="1325880"/>
          </a:xfrm>
          <a:prstGeom prst="roundRect">
            <a:avLst>
              <a:gd name="adj" fmla="val 12000"/>
            </a:avLst>
          </a:prstGeom>
          <a:solidFill>
            <a:srgbClr val="15253B"/>
          </a:solidFill>
          <a:ln>
            <a:solidFill>
              <a:srgbClr val="21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1800" y="2386584"/>
            <a:ext cx="15544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500" b="1" i="0">
                <a:solidFill>
                  <a:srgbClr val="F4F8FC"/>
                </a:solidFill>
                <a:latin typeface="Aptos Display"/>
              </a:rPr>
              <a:t>CONFIGURE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724912"/>
            <a:ext cx="1554480" cy="731519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000" b="0" i="0">
                <a:solidFill>
                  <a:srgbClr val="A4B5C7"/>
                </a:solidFill>
                <a:latin typeface="Aptos"/>
              </a:rPr>
              <a:t>Modes &amp; mappings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99232" y="3493008"/>
            <a:ext cx="1499616" cy="36576"/>
          </a:xfrm>
          <a:prstGeom prst="rect">
            <a:avLst/>
          </a:prstGeom>
          <a:solidFill>
            <a:srgbClr val="AFEB53"/>
          </a:solidFill>
          <a:ln>
            <a:solidFill>
              <a:srgbClr val="AFE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4663440" y="2898648"/>
            <a:ext cx="411480" cy="0"/>
          </a:xfrm>
          <a:prstGeom prst="line">
            <a:avLst/>
          </a:prstGeom>
          <a:ln w="19050">
            <a:solidFill>
              <a:srgbClr val="A4B5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074920" y="2240280"/>
            <a:ext cx="1828800" cy="1325880"/>
          </a:xfrm>
          <a:prstGeom prst="roundRect">
            <a:avLst>
              <a:gd name="adj" fmla="val 12000"/>
            </a:avLst>
          </a:prstGeom>
          <a:solidFill>
            <a:srgbClr val="15253B"/>
          </a:solidFill>
          <a:ln>
            <a:solidFill>
              <a:srgbClr val="21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0" y="2386584"/>
            <a:ext cx="15544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500" b="1" i="0">
                <a:solidFill>
                  <a:srgbClr val="F4F8FC"/>
                </a:solidFill>
                <a:latin typeface="Aptos Display"/>
              </a:rPr>
              <a:t>VISUALIZE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2724912"/>
            <a:ext cx="1554480" cy="731519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000" b="0" i="0">
                <a:solidFill>
                  <a:srgbClr val="A4B5C7"/>
                </a:solidFill>
                <a:latin typeface="Aptos"/>
              </a:rPr>
              <a:t>Code → registers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39512" y="3493008"/>
            <a:ext cx="1499616" cy="36576"/>
          </a:xfrm>
          <a:prstGeom prst="rect">
            <a:avLst/>
          </a:prstGeom>
          <a:solidFill>
            <a:srgbClr val="9D7CFF"/>
          </a:solidFill>
          <a:ln>
            <a:solidFill>
              <a:srgbClr val="9D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6903720" y="2898648"/>
            <a:ext cx="411480" cy="0"/>
          </a:xfrm>
          <a:prstGeom prst="line">
            <a:avLst/>
          </a:prstGeom>
          <a:ln w="19050">
            <a:solidFill>
              <a:srgbClr val="A4B5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315200" y="2240280"/>
            <a:ext cx="1828800" cy="1325880"/>
          </a:xfrm>
          <a:prstGeom prst="roundRect">
            <a:avLst>
              <a:gd name="adj" fmla="val 12000"/>
            </a:avLst>
          </a:prstGeom>
          <a:solidFill>
            <a:srgbClr val="15253B"/>
          </a:solidFill>
          <a:ln>
            <a:solidFill>
              <a:srgbClr val="21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52360" y="2386584"/>
            <a:ext cx="15544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500" b="1" i="0">
                <a:solidFill>
                  <a:srgbClr val="F4F8FC"/>
                </a:solidFill>
                <a:latin typeface="Aptos Display"/>
              </a:rPr>
              <a:t>CONNECT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2724912"/>
            <a:ext cx="1554480" cy="731519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000" b="0" i="0">
                <a:solidFill>
                  <a:srgbClr val="A4B5C7"/>
                </a:solidFill>
                <a:latin typeface="Aptos"/>
              </a:rPr>
              <a:t>USB / serial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79792" y="3493008"/>
            <a:ext cx="1499616" cy="36576"/>
          </a:xfrm>
          <a:prstGeom prst="rect">
            <a:avLst/>
          </a:prstGeom>
          <a:solidFill>
            <a:srgbClr val="FFAB4C"/>
          </a:solidFill>
          <a:ln>
            <a:solidFill>
              <a:srgbClr val="FFA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9144000" y="2898648"/>
            <a:ext cx="411480" cy="0"/>
          </a:xfrm>
          <a:prstGeom prst="line">
            <a:avLst/>
          </a:prstGeom>
          <a:ln w="19050">
            <a:solidFill>
              <a:srgbClr val="A4B5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555480" y="2240280"/>
            <a:ext cx="1828800" cy="1325880"/>
          </a:xfrm>
          <a:prstGeom prst="roundRect">
            <a:avLst>
              <a:gd name="adj" fmla="val 12000"/>
            </a:avLst>
          </a:prstGeom>
          <a:solidFill>
            <a:srgbClr val="15253B"/>
          </a:solidFill>
          <a:ln>
            <a:solidFill>
              <a:srgbClr val="21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0" y="2386584"/>
            <a:ext cx="15544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500" b="1" i="0">
                <a:solidFill>
                  <a:srgbClr val="F4F8FC"/>
                </a:solidFill>
                <a:latin typeface="Aptos Display"/>
              </a:rPr>
              <a:t>VERIFY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2724912"/>
            <a:ext cx="1554480" cy="731519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000" b="0" i="0">
                <a:solidFill>
                  <a:srgbClr val="A4B5C7"/>
                </a:solidFill>
                <a:latin typeface="Aptos"/>
              </a:rPr>
              <a:t>Physical state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20072" y="3493008"/>
            <a:ext cx="1499616" cy="36576"/>
          </a:xfrm>
          <a:prstGeom prst="rect">
            <a:avLst/>
          </a:prstGeom>
          <a:solidFill>
            <a:srgbClr val="AFEB53"/>
          </a:solidFill>
          <a:ln>
            <a:solidFill>
              <a:srgbClr val="AFE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97280" y="4160520"/>
            <a:ext cx="9966960" cy="1508760"/>
          </a:xfrm>
          <a:prstGeom prst="roundRect">
            <a:avLst>
              <a:gd name="adj" fmla="val 12000"/>
            </a:avLst>
          </a:prstGeom>
          <a:solidFill>
            <a:srgbClr val="0C1524"/>
          </a:solidFill>
          <a:ln>
            <a:solidFill>
              <a:srgbClr val="21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371600" y="4407408"/>
            <a:ext cx="1143000" cy="256032"/>
          </a:xfrm>
          <a:prstGeom prst="roundRect">
            <a:avLst>
              <a:gd name="adj" fmla="val 12000"/>
            </a:avLst>
          </a:prstGeom>
          <a:solidFill>
            <a:srgbClr val="2BD3E7"/>
          </a:solidFill>
          <a:ln>
            <a:solidFill>
              <a:srgbClr val="2BD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71600" y="4416552"/>
            <a:ext cx="1143000" cy="2468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ctr"/>
            <a:r>
              <a:rPr sz="800" b="1" i="0">
                <a:solidFill>
                  <a:srgbClr val="070D18"/>
                </a:solidFill>
                <a:latin typeface="Aptos"/>
              </a:rPr>
              <a:t>LIVE EXAMPLE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4325112"/>
            <a:ext cx="22860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800" b="1" i="0">
                <a:solidFill>
                  <a:srgbClr val="F4F8FC"/>
                </a:solidFill>
                <a:latin typeface="Aptos"/>
              </a:rPr>
              <a:t>pinMode(13, OUTPUT)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4325112"/>
            <a:ext cx="32004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2000" b="1" i="0">
                <a:solidFill>
                  <a:srgbClr val="A4B5C7"/>
                </a:solidFill>
                <a:latin typeface="Aptos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4325112"/>
            <a:ext cx="5943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800" b="1" i="0">
                <a:solidFill>
                  <a:srgbClr val="2BD3E7"/>
                </a:solidFill>
                <a:latin typeface="Aptos"/>
              </a:rPr>
              <a:t>D13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4325112"/>
            <a:ext cx="32004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2000" b="1" i="0">
                <a:solidFill>
                  <a:srgbClr val="A4B5C7"/>
                </a:solidFill>
                <a:latin typeface="Aptos"/>
              </a:rP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325112"/>
            <a:ext cx="64008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800" b="1" i="0">
                <a:solidFill>
                  <a:srgbClr val="2BD3E7"/>
                </a:solidFill>
                <a:latin typeface="Aptos"/>
              </a:rPr>
              <a:t>PB5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06640" y="4325112"/>
            <a:ext cx="32004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2000" b="1" i="0">
                <a:solidFill>
                  <a:srgbClr val="A4B5C7"/>
                </a:solidFill>
                <a:latin typeface="Aptos"/>
              </a:rPr>
              <a:t>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18120" y="4325112"/>
            <a:ext cx="1874519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800" b="1" i="0">
                <a:solidFill>
                  <a:srgbClr val="9D7CFF"/>
                </a:solidFill>
                <a:latin typeface="Aptos"/>
              </a:rPr>
              <a:t>DDRB bit 5 = 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02368" y="4325112"/>
            <a:ext cx="96012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800" b="1" i="0">
                <a:solidFill>
                  <a:srgbClr val="AFEB53"/>
                </a:solidFill>
                <a:latin typeface="Aptos"/>
              </a:rPr>
              <a:t>→ OUTPUT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20240" y="5074920"/>
            <a:ext cx="832104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200" b="0" i="0">
                <a:solidFill>
                  <a:srgbClr val="A4B5C7"/>
                </a:solidFill>
                <a:latin typeface="Aptos"/>
              </a:rPr>
              <a:t>The same mapping can be inspected, simulated and sent to the connected Arduino.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02920" y="6519672"/>
            <a:ext cx="11183112" cy="0"/>
          </a:xfrm>
          <a:prstGeom prst="line">
            <a:avLst/>
          </a:prstGeom>
          <a:ln w="8890">
            <a:solidFill>
              <a:srgbClr val="2134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30352" y="6565392"/>
            <a:ext cx="59436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850" b="1" i="0">
                <a:solidFill>
                  <a:srgbClr val="A4B5C7"/>
                </a:solidFill>
                <a:latin typeface="Aptos"/>
              </a:rPr>
              <a:t>MICROBOARD STUDIO  •  CURIOUSPARC 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" y="6830568"/>
            <a:ext cx="9144" cy="9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Basis: uploaded MicroBoard Studio project documentation + prototype code/firmware; hackathon context from CuriousPARC official site.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1165860" cy="310896"/>
          </a:xfrm>
          <a:prstGeom prst="roundRect">
            <a:avLst>
              <a:gd name="adj" fmla="val 12000"/>
            </a:avLst>
          </a:prstGeom>
          <a:solidFill>
            <a:srgbClr val="2BD3E7"/>
          </a:solidFill>
          <a:ln>
            <a:solidFill>
              <a:srgbClr val="2BD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93192"/>
            <a:ext cx="1165860" cy="3017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ctr"/>
            <a:r>
              <a:rPr sz="1000" b="1" i="0">
                <a:solidFill>
                  <a:srgbClr val="070D18"/>
                </a:solidFill>
                <a:latin typeface="Aptos"/>
              </a:rPr>
              <a:t>CORE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69848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900" b="1" i="0">
                <a:solidFill>
                  <a:srgbClr val="F4F8FC"/>
                </a:solidFill>
                <a:latin typeface="Aptos Display"/>
              </a:rPr>
              <a:t>One board. Multiple views. One source of truth.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42416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 i="0">
                <a:solidFill>
                  <a:srgbClr val="A4B5C7"/>
                </a:solidFill>
                <a:latin typeface="Aptos"/>
              </a:rPr>
              <a:t>The current prototype is structured around the exact concepts in the project documentation.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93192"/>
            <a:ext cx="502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1000" b="1" i="0">
                <a:solidFill>
                  <a:srgbClr val="A4B5C7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057400"/>
            <a:ext cx="3493008" cy="1572768"/>
          </a:xfrm>
          <a:prstGeom prst="roundRect">
            <a:avLst>
              <a:gd name="adj" fmla="val 12000"/>
            </a:avLst>
          </a:prstGeom>
          <a:solidFill>
            <a:srgbClr val="111D2F"/>
          </a:solidFill>
          <a:ln>
            <a:solidFill>
              <a:srgbClr val="21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2057400"/>
            <a:ext cx="64008" cy="1572768"/>
          </a:xfrm>
          <a:prstGeom prst="roundRect">
            <a:avLst>
              <a:gd name="adj" fmla="val 12000"/>
            </a:avLst>
          </a:prstGeom>
          <a:solidFill>
            <a:srgbClr val="2BD3E7"/>
          </a:solidFill>
          <a:ln>
            <a:solidFill>
              <a:srgbClr val="2BD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2258568"/>
            <a:ext cx="3081527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600" b="1" i="0">
                <a:solidFill>
                  <a:srgbClr val="F4F8FC"/>
                </a:solidFill>
                <a:latin typeface="Aptos Display"/>
              </a:rPr>
              <a:t>PIN EXPLORER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2697480"/>
            <a:ext cx="3081527" cy="804671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200" b="0" i="0">
                <a:solidFill>
                  <a:srgbClr val="A4B5C7"/>
                </a:solidFill>
                <a:latin typeface="Aptos"/>
              </a:rPr>
              <a:t>D13 → PB5
PWM • SPI SCK • LED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2" y="2057400"/>
            <a:ext cx="3493008" cy="1572768"/>
          </a:xfrm>
          <a:prstGeom prst="roundRect">
            <a:avLst>
              <a:gd name="adj" fmla="val 12000"/>
            </a:avLst>
          </a:prstGeom>
          <a:solidFill>
            <a:srgbClr val="111D2F"/>
          </a:solidFill>
          <a:ln>
            <a:solidFill>
              <a:srgbClr val="21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16552" y="2057400"/>
            <a:ext cx="64008" cy="1572768"/>
          </a:xfrm>
          <a:prstGeom prst="roundRect">
            <a:avLst>
              <a:gd name="adj" fmla="val 12000"/>
            </a:avLst>
          </a:prstGeom>
          <a:solidFill>
            <a:srgbClr val="AFEB53"/>
          </a:solidFill>
          <a:ln>
            <a:solidFill>
              <a:srgbClr val="AFE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8" y="2258568"/>
            <a:ext cx="3081527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600" b="1" i="0">
                <a:solidFill>
                  <a:srgbClr val="F4F8FC"/>
                </a:solidFill>
                <a:latin typeface="Aptos Display"/>
              </a:rPr>
              <a:t>PERIPHERAL MAPPER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2697480"/>
            <a:ext cx="3081527" cy="804671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200" b="0" i="0">
                <a:solidFill>
                  <a:srgbClr val="A4B5C7"/>
                </a:solidFill>
                <a:latin typeface="Aptos"/>
              </a:rPr>
              <a:t>UART • SPI • I²C
PWM • ADC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38744" y="2057400"/>
            <a:ext cx="3493008" cy="1572768"/>
          </a:xfrm>
          <a:prstGeom prst="roundRect">
            <a:avLst>
              <a:gd name="adj" fmla="val 12000"/>
            </a:avLst>
          </a:prstGeom>
          <a:solidFill>
            <a:srgbClr val="111D2F"/>
          </a:solidFill>
          <a:ln>
            <a:solidFill>
              <a:srgbClr val="21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38744" y="2057400"/>
            <a:ext cx="64008" cy="1572768"/>
          </a:xfrm>
          <a:prstGeom prst="roundRect">
            <a:avLst>
              <a:gd name="adj" fmla="val 12000"/>
            </a:avLst>
          </a:prstGeom>
          <a:solidFill>
            <a:srgbClr val="9D7CFF"/>
          </a:solidFill>
          <a:ln>
            <a:solidFill>
              <a:srgbClr val="9D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2258568"/>
            <a:ext cx="3081527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600" b="1" i="0">
                <a:solidFill>
                  <a:srgbClr val="F4F8FC"/>
                </a:solidFill>
                <a:latin typeface="Aptos Display"/>
              </a:rPr>
              <a:t>CODE VISUALIZER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697480"/>
            <a:ext cx="3081527" cy="804671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200" b="0" i="0">
                <a:solidFill>
                  <a:srgbClr val="A4B5C7"/>
                </a:solidFill>
                <a:latin typeface="Aptos"/>
              </a:rPr>
              <a:t>Arduino API →
MCU hardware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931920"/>
            <a:ext cx="3493008" cy="1572768"/>
          </a:xfrm>
          <a:prstGeom prst="roundRect">
            <a:avLst>
              <a:gd name="adj" fmla="val 12000"/>
            </a:avLst>
          </a:prstGeom>
          <a:solidFill>
            <a:srgbClr val="111D2F"/>
          </a:solidFill>
          <a:ln>
            <a:solidFill>
              <a:srgbClr val="21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4360" y="3931920"/>
            <a:ext cx="64008" cy="1572768"/>
          </a:xfrm>
          <a:prstGeom prst="roundRect">
            <a:avLst>
              <a:gd name="adj" fmla="val 12000"/>
            </a:avLst>
          </a:prstGeom>
          <a:solidFill>
            <a:srgbClr val="FFAB4C"/>
          </a:solidFill>
          <a:ln>
            <a:solidFill>
              <a:srgbClr val="FFA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" y="4133087"/>
            <a:ext cx="3081527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600" b="1" i="0">
                <a:solidFill>
                  <a:srgbClr val="F4F8FC"/>
                </a:solidFill>
                <a:latin typeface="Aptos Display"/>
              </a:rPr>
              <a:t>REGISTER VIEWER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" y="4572000"/>
            <a:ext cx="3081527" cy="804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200" b="0" i="0">
                <a:solidFill>
                  <a:srgbClr val="A4B5C7"/>
                </a:solidFill>
                <a:latin typeface="Aptos"/>
              </a:rPr>
              <a:t>DDRx • PORTx • PINx
bit-level state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16552" y="3931920"/>
            <a:ext cx="3493008" cy="1572768"/>
          </a:xfrm>
          <a:prstGeom prst="roundRect">
            <a:avLst>
              <a:gd name="adj" fmla="val 12000"/>
            </a:avLst>
          </a:prstGeom>
          <a:solidFill>
            <a:srgbClr val="111D2F"/>
          </a:solidFill>
          <a:ln>
            <a:solidFill>
              <a:srgbClr val="21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416552" y="3931920"/>
            <a:ext cx="64008" cy="1572768"/>
          </a:xfrm>
          <a:prstGeom prst="roundRect">
            <a:avLst>
              <a:gd name="adj" fmla="val 12000"/>
            </a:avLst>
          </a:prstGeom>
          <a:solidFill>
            <a:srgbClr val="2BD3E7"/>
          </a:solidFill>
          <a:ln>
            <a:solidFill>
              <a:srgbClr val="2BD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36008" y="4133087"/>
            <a:ext cx="3081527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600" b="1" i="0">
                <a:solidFill>
                  <a:srgbClr val="F4F8FC"/>
                </a:solidFill>
                <a:latin typeface="Aptos Display"/>
              </a:rPr>
              <a:t>HARDWARE MONITOR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36008" y="4572000"/>
            <a:ext cx="3081527" cy="804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200" b="0" i="0">
                <a:solidFill>
                  <a:srgbClr val="A4B5C7"/>
                </a:solidFill>
                <a:latin typeface="Aptos"/>
              </a:rPr>
              <a:t>Physical pin state
via serial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38744" y="3931920"/>
            <a:ext cx="3493008" cy="1572768"/>
          </a:xfrm>
          <a:prstGeom prst="roundRect">
            <a:avLst>
              <a:gd name="adj" fmla="val 12000"/>
            </a:avLst>
          </a:prstGeom>
          <a:solidFill>
            <a:srgbClr val="111D2F"/>
          </a:solidFill>
          <a:ln>
            <a:solidFill>
              <a:srgbClr val="21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38744" y="3931920"/>
            <a:ext cx="64008" cy="1572768"/>
          </a:xfrm>
          <a:prstGeom prst="roundRect">
            <a:avLst>
              <a:gd name="adj" fmla="val 12000"/>
            </a:avLst>
          </a:prstGeom>
          <a:solidFill>
            <a:srgbClr val="AFEB53"/>
          </a:solidFill>
          <a:ln>
            <a:solidFill>
              <a:srgbClr val="AFE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58200" y="4133087"/>
            <a:ext cx="3081527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600" b="1" i="0">
                <a:solidFill>
                  <a:srgbClr val="F4F8FC"/>
                </a:solidFill>
                <a:latin typeface="Aptos Display"/>
              </a:rPr>
              <a:t>LEARN MODE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4572000"/>
            <a:ext cx="3081527" cy="804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200" b="0" i="0">
                <a:solidFill>
                  <a:srgbClr val="A4B5C7"/>
                </a:solidFill>
                <a:latin typeface="Aptos"/>
              </a:rPr>
              <a:t>Concepts + guided
MCU understanding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68112" y="5943600"/>
            <a:ext cx="594360" cy="256032"/>
          </a:xfrm>
          <a:prstGeom prst="roundRect">
            <a:avLst>
              <a:gd name="adj" fmla="val 12000"/>
            </a:avLst>
          </a:prstGeom>
          <a:solidFill>
            <a:srgbClr val="AFEB53"/>
          </a:solidFill>
          <a:ln>
            <a:solidFill>
              <a:srgbClr val="AFE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68112" y="5952744"/>
            <a:ext cx="594360" cy="2468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ctr"/>
            <a:r>
              <a:rPr sz="800" b="1" i="0">
                <a:solidFill>
                  <a:srgbClr val="070D18"/>
                </a:solidFill>
                <a:latin typeface="Aptos"/>
              </a:rPr>
              <a:t>KEY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2200" y="5897880"/>
            <a:ext cx="530352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1" i="0">
                <a:solidFill>
                  <a:srgbClr val="F4F8FC"/>
                </a:solidFill>
                <a:latin typeface="Aptos"/>
              </a:rPr>
              <a:t>The differentiator is the connection between these views and the physical board.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02920" y="6519672"/>
            <a:ext cx="11183112" cy="0"/>
          </a:xfrm>
          <a:prstGeom prst="line">
            <a:avLst/>
          </a:prstGeom>
          <a:ln w="8890">
            <a:solidFill>
              <a:srgbClr val="2134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30352" y="6565392"/>
            <a:ext cx="59436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850" b="1" i="0">
                <a:solidFill>
                  <a:srgbClr val="A4B5C7"/>
                </a:solidFill>
                <a:latin typeface="Aptos"/>
              </a:rPr>
              <a:t>MICROBOARD STUDIO  •  CURIOUSPARC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" y="6830568"/>
            <a:ext cx="9144" cy="9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Basis: uploaded MicroBoard Studio project documentation + prototype code/firmware; hackathon context from CuriousPARC official site.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1088136" cy="310896"/>
          </a:xfrm>
          <a:prstGeom prst="roundRect">
            <a:avLst>
              <a:gd name="adj" fmla="val 12000"/>
            </a:avLst>
          </a:prstGeom>
          <a:solidFill>
            <a:srgbClr val="2BD3E7"/>
          </a:solidFill>
          <a:ln>
            <a:solidFill>
              <a:srgbClr val="2BD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93192"/>
            <a:ext cx="1088136" cy="3017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ctr"/>
            <a:r>
              <a:rPr sz="1000" b="1" i="0">
                <a:solidFill>
                  <a:srgbClr val="070D18"/>
                </a:solidFill>
                <a:latin typeface="Aptos"/>
              </a:rPr>
              <a:t>DIFFERENTIATOR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69848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900" b="1" i="0">
                <a:solidFill>
                  <a:srgbClr val="F4F8FC"/>
                </a:solidFill>
                <a:latin typeface="Aptos Display"/>
              </a:rPr>
              <a:t>Not “another Arduino clone”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42416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 i="0">
                <a:solidFill>
                  <a:srgbClr val="A4B5C7"/>
                </a:solidFill>
                <a:latin typeface="Aptos"/>
              </a:rPr>
              <a:t>The custom-board direction becomes valuable because the software makes hardware state observable, understandable and safer.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93192"/>
            <a:ext cx="502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1000" b="1" i="0">
                <a:solidFill>
                  <a:srgbClr val="A4B5C7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103120"/>
            <a:ext cx="3493008" cy="3337560"/>
          </a:xfrm>
          <a:prstGeom prst="roundRect">
            <a:avLst>
              <a:gd name="adj" fmla="val 12000"/>
            </a:avLst>
          </a:prstGeom>
          <a:solidFill>
            <a:srgbClr val="111D2F"/>
          </a:solidFill>
          <a:ln>
            <a:solidFill>
              <a:srgbClr val="21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2103120"/>
            <a:ext cx="64008" cy="3337560"/>
          </a:xfrm>
          <a:prstGeom prst="roundRect">
            <a:avLst>
              <a:gd name="adj" fmla="val 12000"/>
            </a:avLst>
          </a:prstGeom>
          <a:solidFill>
            <a:srgbClr val="2BD3E7"/>
          </a:solidFill>
          <a:ln>
            <a:solidFill>
              <a:srgbClr val="2BD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3816" y="2267712"/>
            <a:ext cx="594360" cy="246888"/>
          </a:xfrm>
          <a:prstGeom prst="roundRect">
            <a:avLst>
              <a:gd name="adj" fmla="val 12000"/>
            </a:avLst>
          </a:prstGeom>
          <a:solidFill>
            <a:srgbClr val="2BD3E7"/>
          </a:solidFill>
          <a:ln>
            <a:solidFill>
              <a:srgbClr val="2BD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" y="2276856"/>
            <a:ext cx="594360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ctr"/>
            <a:r>
              <a:rPr sz="800" b="1" i="0">
                <a:solidFill>
                  <a:srgbClr val="070D18"/>
                </a:solidFill>
                <a:latin typeface="Aptos"/>
              </a:rPr>
              <a:t>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" y="2606039"/>
            <a:ext cx="3081527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600" b="1" i="0">
                <a:solidFill>
                  <a:srgbClr val="F4F8FC"/>
                </a:solidFill>
                <a:latin typeface="Aptos Display"/>
              </a:rPr>
              <a:t>01  LIVE HARDWARE LINK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" y="3044951"/>
            <a:ext cx="3081527" cy="22677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 i="0">
                <a:solidFill>
                  <a:srgbClr val="A4B5C7"/>
                </a:solidFill>
                <a:latin typeface="Aptos"/>
              </a:rPr>
              <a:t>The interface can connect to the real Arduino over serial and mirror supported pin states. The prototype firmware exposes SET / MODE / READ / STATUS commands.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2103120"/>
            <a:ext cx="3493008" cy="3337560"/>
          </a:xfrm>
          <a:prstGeom prst="roundRect">
            <a:avLst>
              <a:gd name="adj" fmla="val 12000"/>
            </a:avLst>
          </a:prstGeom>
          <a:solidFill>
            <a:srgbClr val="111D2F"/>
          </a:solidFill>
          <a:ln>
            <a:solidFill>
              <a:srgbClr val="21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43400" y="2103120"/>
            <a:ext cx="64008" cy="3337560"/>
          </a:xfrm>
          <a:prstGeom prst="roundRect">
            <a:avLst>
              <a:gd name="adj" fmla="val 12000"/>
            </a:avLst>
          </a:prstGeom>
          <a:solidFill>
            <a:srgbClr val="9D7CFF"/>
          </a:solidFill>
          <a:ln>
            <a:solidFill>
              <a:srgbClr val="9D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62856" y="2267712"/>
            <a:ext cx="594360" cy="246888"/>
          </a:xfrm>
          <a:prstGeom prst="roundRect">
            <a:avLst>
              <a:gd name="adj" fmla="val 12000"/>
            </a:avLst>
          </a:prstGeom>
          <a:solidFill>
            <a:srgbClr val="9D7CFF"/>
          </a:solidFill>
          <a:ln>
            <a:solidFill>
              <a:srgbClr val="9D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62856" y="2276856"/>
            <a:ext cx="594360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ctr"/>
            <a:r>
              <a:rPr sz="800" b="1" i="0">
                <a:solidFill>
                  <a:srgbClr val="070D18"/>
                </a:solidFill>
                <a:latin typeface="Aptos"/>
              </a:rPr>
              <a:t>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6" y="2606039"/>
            <a:ext cx="3081527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600" b="1" i="0">
                <a:solidFill>
                  <a:srgbClr val="F4F8FC"/>
                </a:solidFill>
                <a:latin typeface="Aptos Display"/>
              </a:rPr>
              <a:t>02  CODE → MCU TRACE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3044951"/>
            <a:ext cx="3081527" cy="22677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 i="0">
                <a:solidFill>
                  <a:srgbClr val="A4B5C7"/>
                </a:solidFill>
                <a:latin typeface="Aptos"/>
              </a:rPr>
              <a:t>Users can follow a command such as digitalWrite(13, HIGH) through D13 → PB5 → PORTB bit 5 → LED 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2103120"/>
            <a:ext cx="3493008" cy="3337560"/>
          </a:xfrm>
          <a:prstGeom prst="roundRect">
            <a:avLst>
              <a:gd name="adj" fmla="val 12000"/>
            </a:avLst>
          </a:prstGeom>
          <a:solidFill>
            <a:srgbClr val="111D2F"/>
          </a:solidFill>
          <a:ln>
            <a:solidFill>
              <a:srgbClr val="21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92440" y="2103120"/>
            <a:ext cx="64008" cy="3337560"/>
          </a:xfrm>
          <a:prstGeom prst="roundRect">
            <a:avLst>
              <a:gd name="adj" fmla="val 12000"/>
            </a:avLst>
          </a:prstGeom>
          <a:solidFill>
            <a:srgbClr val="AFEB53"/>
          </a:solidFill>
          <a:ln>
            <a:solidFill>
              <a:srgbClr val="AFE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311896" y="2267712"/>
            <a:ext cx="594360" cy="246888"/>
          </a:xfrm>
          <a:prstGeom prst="roundRect">
            <a:avLst>
              <a:gd name="adj" fmla="val 12000"/>
            </a:avLst>
          </a:prstGeom>
          <a:solidFill>
            <a:srgbClr val="AFEB53"/>
          </a:solidFill>
          <a:ln>
            <a:solidFill>
              <a:srgbClr val="AFE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11896" y="2276856"/>
            <a:ext cx="594360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ctr"/>
            <a:r>
              <a:rPr sz="800" b="1" i="0">
                <a:solidFill>
                  <a:srgbClr val="070D18"/>
                </a:solidFill>
                <a:latin typeface="Aptos"/>
              </a:rPr>
              <a:t>NEXT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1896" y="2606039"/>
            <a:ext cx="3081527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600" b="1" i="0">
                <a:solidFill>
                  <a:srgbClr val="F4F8FC"/>
                </a:solidFill>
                <a:latin typeface="Aptos Display"/>
              </a:rPr>
              <a:t>03  CONFLICT-AWARE DESIGN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1896" y="3044951"/>
            <a:ext cx="3081527" cy="22677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 i="0">
                <a:solidFill>
                  <a:srgbClr val="A4B5C7"/>
                </a:solidFill>
                <a:latin typeface="Aptos"/>
              </a:rPr>
              <a:t>The planned platform can flag incompatible pin/peripheral assignments before they become wiring or runtime problems.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5715000"/>
            <a:ext cx="12801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100" b="1" i="0">
                <a:solidFill>
                  <a:srgbClr val="A4B5C7"/>
                </a:solidFill>
                <a:latin typeface="Aptos"/>
              </a:rPr>
              <a:t>Why it matters: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5669280"/>
            <a:ext cx="905256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500" b="1" i="0">
                <a:solidFill>
                  <a:srgbClr val="F4F8FC"/>
                </a:solidFill>
                <a:latin typeface="Aptos"/>
              </a:rPr>
              <a:t>the board becomes something the user can inspect, learn from and verify — not just program.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02920" y="6519672"/>
            <a:ext cx="11183112" cy="0"/>
          </a:xfrm>
          <a:prstGeom prst="line">
            <a:avLst/>
          </a:prstGeom>
          <a:ln w="8890">
            <a:solidFill>
              <a:srgbClr val="2134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30352" y="6565392"/>
            <a:ext cx="59436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850" b="1" i="0">
                <a:solidFill>
                  <a:srgbClr val="A4B5C7"/>
                </a:solidFill>
                <a:latin typeface="Aptos"/>
              </a:rPr>
              <a:t>MICROBOARD STUDIO  •  CURIOUSPARC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" y="6830568"/>
            <a:ext cx="9144" cy="9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Basis: uploaded MicroBoard Studio project documentation + prototype code/firmware; hackathon context from CuriousPARC official site.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932688" cy="310896"/>
          </a:xfrm>
          <a:prstGeom prst="roundRect">
            <a:avLst>
              <a:gd name="adj" fmla="val 12000"/>
            </a:avLst>
          </a:prstGeom>
          <a:solidFill>
            <a:srgbClr val="2BD3E7"/>
          </a:solidFill>
          <a:ln>
            <a:solidFill>
              <a:srgbClr val="2BD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93192"/>
            <a:ext cx="932688" cy="3017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ctr"/>
            <a:r>
              <a:rPr sz="1000" b="1" i="0">
                <a:solidFill>
                  <a:srgbClr val="070D18"/>
                </a:solidFill>
                <a:latin typeface="Aptos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69848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900" b="1" i="0">
                <a:solidFill>
                  <a:srgbClr val="F4F8FC"/>
                </a:solidFill>
                <a:latin typeface="Aptos Display"/>
              </a:rPr>
              <a:t>Hardware + software, designed as one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42416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 i="0">
                <a:solidFill>
                  <a:srgbClr val="A4B5C7"/>
                </a:solidFill>
                <a:latin typeface="Aptos"/>
              </a:rPr>
              <a:t>Current implementation: React/Vite interface + Arduino firmware. The architecture is intentionally extensible to a custom board.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93192"/>
            <a:ext cx="502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1000" b="1" i="0">
                <a:solidFill>
                  <a:srgbClr val="A4B5C7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48840"/>
            <a:ext cx="2194560" cy="1051560"/>
          </a:xfrm>
          <a:prstGeom prst="roundRect">
            <a:avLst>
              <a:gd name="adj" fmla="val 12000"/>
            </a:avLst>
          </a:prstGeom>
          <a:solidFill>
            <a:srgbClr val="15253B"/>
          </a:solidFill>
          <a:ln>
            <a:solidFill>
              <a:srgbClr val="21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95144"/>
            <a:ext cx="192024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500" b="1" i="0">
                <a:solidFill>
                  <a:srgbClr val="F4F8FC"/>
                </a:solidFill>
                <a:latin typeface="Aptos Display"/>
              </a:rPr>
              <a:t>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33472"/>
            <a:ext cx="1920240" cy="457199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000" b="0" i="0">
                <a:solidFill>
                  <a:srgbClr val="A4B5C7"/>
                </a:solidFill>
                <a:latin typeface="Aptos"/>
              </a:rPr>
              <a:t>Explore • code • inspect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0392" y="3127248"/>
            <a:ext cx="1865376" cy="36576"/>
          </a:xfrm>
          <a:prstGeom prst="rect">
            <a:avLst/>
          </a:prstGeom>
          <a:solidFill>
            <a:srgbClr val="2BD3E7"/>
          </a:solidFill>
          <a:ln>
            <a:solidFill>
              <a:srgbClr val="2BD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29000" y="2148840"/>
            <a:ext cx="2468880" cy="1051560"/>
          </a:xfrm>
          <a:prstGeom prst="roundRect">
            <a:avLst>
              <a:gd name="adj" fmla="val 12000"/>
            </a:avLst>
          </a:prstGeom>
          <a:solidFill>
            <a:srgbClr val="15253B"/>
          </a:solidFill>
          <a:ln>
            <a:solidFill>
              <a:srgbClr val="21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2295144"/>
            <a:ext cx="21945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500" b="1" i="0">
                <a:solidFill>
                  <a:srgbClr val="F4F8FC"/>
                </a:solidFill>
                <a:latin typeface="Aptos Display"/>
              </a:rPr>
              <a:t>MICROBOARD 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633472"/>
            <a:ext cx="2194560" cy="457199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000" b="0" i="0">
                <a:solidFill>
                  <a:srgbClr val="A4B5C7"/>
                </a:solidFill>
                <a:latin typeface="Aptos"/>
              </a:rPr>
              <a:t>React + TypeScript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93592" y="3127248"/>
            <a:ext cx="2139696" cy="36576"/>
          </a:xfrm>
          <a:prstGeom prst="rect">
            <a:avLst/>
          </a:prstGeom>
          <a:solidFill>
            <a:srgbClr val="AFEB53"/>
          </a:solidFill>
          <a:ln>
            <a:solidFill>
              <a:srgbClr val="AFE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46520" y="2148840"/>
            <a:ext cx="2148840" cy="1051560"/>
          </a:xfrm>
          <a:prstGeom prst="roundRect">
            <a:avLst>
              <a:gd name="adj" fmla="val 12000"/>
            </a:avLst>
          </a:prstGeom>
          <a:solidFill>
            <a:srgbClr val="15253B"/>
          </a:solidFill>
          <a:ln>
            <a:solidFill>
              <a:srgbClr val="21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2295144"/>
            <a:ext cx="187452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500" b="1" i="0">
                <a:solidFill>
                  <a:srgbClr val="F4F8FC"/>
                </a:solidFill>
                <a:latin typeface="Aptos Display"/>
              </a:rPr>
              <a:t>SERIAL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633472"/>
            <a:ext cx="1874520" cy="457199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000" b="0" i="0">
                <a:solidFill>
                  <a:srgbClr val="A4B5C7"/>
                </a:solidFill>
                <a:latin typeface="Aptos"/>
              </a:rPr>
              <a:t>Web Serial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11112" y="3127248"/>
            <a:ext cx="1819656" cy="36576"/>
          </a:xfrm>
          <a:prstGeom prst="rect">
            <a:avLst/>
          </a:prstGeom>
          <a:solidFill>
            <a:srgbClr val="FFAB4C"/>
          </a:solidFill>
          <a:ln>
            <a:solidFill>
              <a:srgbClr val="FFA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0" y="2148840"/>
            <a:ext cx="2148840" cy="1051560"/>
          </a:xfrm>
          <a:prstGeom prst="roundRect">
            <a:avLst>
              <a:gd name="adj" fmla="val 12000"/>
            </a:avLst>
          </a:prstGeom>
          <a:solidFill>
            <a:srgbClr val="15253B"/>
          </a:solidFill>
          <a:ln>
            <a:solidFill>
              <a:srgbClr val="21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2295144"/>
            <a:ext cx="187452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500" b="1" i="0">
                <a:solidFill>
                  <a:srgbClr val="F4F8FC"/>
                </a:solidFill>
                <a:latin typeface="Aptos Display"/>
              </a:rPr>
              <a:t>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2633472"/>
            <a:ext cx="1874520" cy="457199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000" b="0" i="0">
                <a:solidFill>
                  <a:srgbClr val="A4B5C7"/>
                </a:solidFill>
                <a:latin typeface="Aptos"/>
              </a:rPr>
              <a:t>Arduino Uno / MCU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08592" y="3127248"/>
            <a:ext cx="1819656" cy="36576"/>
          </a:xfrm>
          <a:prstGeom prst="rect">
            <a:avLst/>
          </a:prstGeom>
          <a:solidFill>
            <a:srgbClr val="9D7CFF"/>
          </a:solidFill>
          <a:ln>
            <a:solidFill>
              <a:srgbClr val="9D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2880360" y="2679192"/>
            <a:ext cx="548640" cy="0"/>
          </a:xfrm>
          <a:prstGeom prst="line">
            <a:avLst/>
          </a:prstGeom>
          <a:ln w="21590">
            <a:solidFill>
              <a:srgbClr val="A4B5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897880" y="2679192"/>
            <a:ext cx="548640" cy="0"/>
          </a:xfrm>
          <a:prstGeom prst="line">
            <a:avLst/>
          </a:prstGeom>
          <a:ln w="21590">
            <a:solidFill>
              <a:srgbClr val="A4B5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595360" y="2679192"/>
            <a:ext cx="548640" cy="0"/>
          </a:xfrm>
          <a:prstGeom prst="line">
            <a:avLst/>
          </a:prstGeom>
          <a:ln w="21590">
            <a:solidFill>
              <a:srgbClr val="A4B5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60120" y="3977639"/>
            <a:ext cx="3200400" cy="1417320"/>
          </a:xfrm>
          <a:prstGeom prst="roundRect">
            <a:avLst>
              <a:gd name="adj" fmla="val 12000"/>
            </a:avLst>
          </a:prstGeom>
          <a:solidFill>
            <a:srgbClr val="111D2F"/>
          </a:solidFill>
          <a:ln>
            <a:solidFill>
              <a:srgbClr val="21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60120" y="3977639"/>
            <a:ext cx="64008" cy="1417320"/>
          </a:xfrm>
          <a:prstGeom prst="roundRect">
            <a:avLst>
              <a:gd name="adj" fmla="val 12000"/>
            </a:avLst>
          </a:prstGeom>
          <a:solidFill>
            <a:srgbClr val="2BD3E7"/>
          </a:solidFill>
          <a:ln>
            <a:solidFill>
              <a:srgbClr val="2BD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79576" y="4178807"/>
            <a:ext cx="27889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600" b="1" i="0">
                <a:solidFill>
                  <a:srgbClr val="F4F8FC"/>
                </a:solidFill>
                <a:latin typeface="Aptos Display"/>
              </a:rPr>
              <a:t>PIN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9576" y="4617719"/>
            <a:ext cx="2788920" cy="6492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100" b="0" i="0">
                <a:solidFill>
                  <a:srgbClr val="A4B5C7"/>
                </a:solidFill>
                <a:latin typeface="Aptos"/>
              </a:rPr>
              <a:t>Ports • bits • peripherals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63440" y="3977639"/>
            <a:ext cx="3200400" cy="1417320"/>
          </a:xfrm>
          <a:prstGeom prst="roundRect">
            <a:avLst>
              <a:gd name="adj" fmla="val 12000"/>
            </a:avLst>
          </a:prstGeom>
          <a:solidFill>
            <a:srgbClr val="111D2F"/>
          </a:solidFill>
          <a:ln>
            <a:solidFill>
              <a:srgbClr val="21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663440" y="3977639"/>
            <a:ext cx="64008" cy="1417320"/>
          </a:xfrm>
          <a:prstGeom prst="roundRect">
            <a:avLst>
              <a:gd name="adj" fmla="val 12000"/>
            </a:avLst>
          </a:prstGeom>
          <a:solidFill>
            <a:srgbClr val="9D7CFF"/>
          </a:solidFill>
          <a:ln>
            <a:solidFill>
              <a:srgbClr val="9D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82896" y="4178807"/>
            <a:ext cx="27889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600" b="1" i="0">
                <a:solidFill>
                  <a:srgbClr val="F4F8FC"/>
                </a:solidFill>
                <a:latin typeface="Aptos Display"/>
              </a:rPr>
              <a:t>VISUALIZATION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82896" y="4617719"/>
            <a:ext cx="2788920" cy="6492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100" b="0" i="0">
                <a:solidFill>
                  <a:srgbClr val="A4B5C7"/>
                </a:solidFill>
                <a:latin typeface="Aptos"/>
              </a:rPr>
              <a:t>Board • registers • code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66760" y="3977639"/>
            <a:ext cx="3200400" cy="1417320"/>
          </a:xfrm>
          <a:prstGeom prst="roundRect">
            <a:avLst>
              <a:gd name="adj" fmla="val 12000"/>
            </a:avLst>
          </a:prstGeom>
          <a:solidFill>
            <a:srgbClr val="111D2F"/>
          </a:solidFill>
          <a:ln>
            <a:solidFill>
              <a:srgbClr val="21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366760" y="3977639"/>
            <a:ext cx="64008" cy="1417320"/>
          </a:xfrm>
          <a:prstGeom prst="roundRect">
            <a:avLst>
              <a:gd name="adj" fmla="val 12000"/>
            </a:avLst>
          </a:prstGeom>
          <a:solidFill>
            <a:srgbClr val="AFEB53"/>
          </a:solidFill>
          <a:ln>
            <a:solidFill>
              <a:srgbClr val="AFE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86216" y="4178807"/>
            <a:ext cx="27889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600" b="1" i="0">
                <a:solidFill>
                  <a:srgbClr val="F4F8FC"/>
                </a:solidFill>
                <a:latin typeface="Aptos Display"/>
              </a:rPr>
              <a:t>FIRMWARE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86216" y="4617719"/>
            <a:ext cx="2788920" cy="6492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100" b="0" i="0">
                <a:solidFill>
                  <a:srgbClr val="A4B5C7"/>
                </a:solidFill>
                <a:latin typeface="Aptos"/>
              </a:rPr>
              <a:t>MODE • SET • READ • STATUS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760720"/>
            <a:ext cx="13258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1" i="0">
                <a:solidFill>
                  <a:srgbClr val="A4B5C7"/>
                </a:solidFill>
                <a:latin typeface="Aptos"/>
              </a:rPr>
              <a:t>EXTENSIBLE PATH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48840" y="5715000"/>
            <a:ext cx="896112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1" i="0">
                <a:solidFill>
                  <a:srgbClr val="F4F8FC"/>
                </a:solidFill>
                <a:latin typeface="Aptos"/>
              </a:rPr>
              <a:t>Arduino Uno prototype  →  custom MicroBoard PCB  →  ESP32 / STM32 / RP2040 support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02920" y="6519672"/>
            <a:ext cx="11183112" cy="0"/>
          </a:xfrm>
          <a:prstGeom prst="line">
            <a:avLst/>
          </a:prstGeom>
          <a:ln w="8890">
            <a:solidFill>
              <a:srgbClr val="2134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30352" y="6565392"/>
            <a:ext cx="59436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850" b="1" i="0">
                <a:solidFill>
                  <a:srgbClr val="A4B5C7"/>
                </a:solidFill>
                <a:latin typeface="Aptos"/>
              </a:rPr>
              <a:t>MICROBOARD STUDIO  •  CURIOUSPARC 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" y="6830568"/>
            <a:ext cx="9144" cy="9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Basis: uploaded MicroBoard Studio project documentation + prototype code/firmware; hackathon context from CuriousPARC official site.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822960" cy="310896"/>
          </a:xfrm>
          <a:prstGeom prst="roundRect">
            <a:avLst>
              <a:gd name="adj" fmla="val 12000"/>
            </a:avLst>
          </a:prstGeom>
          <a:solidFill>
            <a:srgbClr val="2BD3E7"/>
          </a:solidFill>
          <a:ln>
            <a:solidFill>
              <a:srgbClr val="2BD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93192"/>
            <a:ext cx="822960" cy="3017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ctr"/>
            <a:r>
              <a:rPr sz="1000" b="1" i="0">
                <a:solidFill>
                  <a:srgbClr val="070D18"/>
                </a:solidFill>
                <a:latin typeface="Aptos"/>
              </a:rPr>
              <a:t>DEMO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69848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900" b="1" i="0">
                <a:solidFill>
                  <a:srgbClr val="F4F8FC"/>
                </a:solidFill>
                <a:latin typeface="Aptos Display"/>
              </a:rPr>
              <a:t>A 2-minute story judges can see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42416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 i="0">
                <a:solidFill>
                  <a:srgbClr val="A4B5C7"/>
                </a:solidFill>
                <a:latin typeface="Aptos"/>
              </a:rPr>
              <a:t>Show the physical board and the UI reacting together. Avoid a feature dump.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93192"/>
            <a:ext cx="502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1000" b="1" i="0">
                <a:solidFill>
                  <a:srgbClr val="A4B5C7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29968"/>
            <a:ext cx="502920" cy="283464"/>
          </a:xfrm>
          <a:prstGeom prst="roundRect">
            <a:avLst>
              <a:gd name="adj" fmla="val 12000"/>
            </a:avLst>
          </a:prstGeom>
          <a:solidFill>
            <a:srgbClr val="2BD3E7"/>
          </a:solidFill>
          <a:ln>
            <a:solidFill>
              <a:srgbClr val="2BD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39112"/>
            <a:ext cx="50292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ctr"/>
            <a:r>
              <a:rPr sz="800" b="1" i="0">
                <a:solidFill>
                  <a:srgbClr val="070D18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2011680"/>
            <a:ext cx="9601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1" i="0">
                <a:solidFill>
                  <a:srgbClr val="F4F8FC"/>
                </a:solidFill>
                <a:latin typeface="Aptos"/>
              </a:rPr>
              <a:t>SELECT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011680"/>
            <a:ext cx="16002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1" i="0">
                <a:solidFill>
                  <a:srgbClr val="2BD3E7"/>
                </a:solidFill>
                <a:latin typeface="Aptos"/>
              </a:rPr>
              <a:t>Click D13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011680"/>
            <a:ext cx="63093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200" b="0" i="0">
                <a:solidFill>
                  <a:srgbClr val="A4B5C7"/>
                </a:solidFill>
                <a:latin typeface="Aptos"/>
              </a:rPr>
              <a:t>UI reveals PB5 / SPI SCK / LED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96112" y="2322576"/>
            <a:ext cx="0" cy="457200"/>
          </a:xfrm>
          <a:prstGeom prst="line">
            <a:avLst/>
          </a:prstGeom>
          <a:ln w="12700">
            <a:solidFill>
              <a:srgbClr val="A4B5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2779776"/>
            <a:ext cx="502920" cy="283464"/>
          </a:xfrm>
          <a:prstGeom prst="roundRect">
            <a:avLst>
              <a:gd name="adj" fmla="val 12000"/>
            </a:avLst>
          </a:prstGeom>
          <a:solidFill>
            <a:srgbClr val="AFEB53"/>
          </a:solidFill>
          <a:ln>
            <a:solidFill>
              <a:srgbClr val="AFE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788920"/>
            <a:ext cx="50292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ctr"/>
            <a:r>
              <a:rPr sz="800" b="1" i="0">
                <a:solidFill>
                  <a:srgbClr val="070D18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761488"/>
            <a:ext cx="9601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1" i="0">
                <a:solidFill>
                  <a:srgbClr val="F4F8FC"/>
                </a:solidFill>
                <a:latin typeface="Aptos"/>
              </a:rPr>
              <a:t>TRACE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2761488"/>
            <a:ext cx="16002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1" i="0">
                <a:solidFill>
                  <a:srgbClr val="AFEB53"/>
                </a:solidFill>
                <a:latin typeface="Aptos"/>
              </a:rPr>
              <a:t>Run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761488"/>
            <a:ext cx="63093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200" b="0" i="0">
                <a:solidFill>
                  <a:srgbClr val="A4B5C7"/>
                </a:solidFill>
                <a:latin typeface="Aptos"/>
              </a:rPr>
              <a:t>pinMode + digitalWrite map to registers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96112" y="3072384"/>
            <a:ext cx="0" cy="457200"/>
          </a:xfrm>
          <a:prstGeom prst="line">
            <a:avLst/>
          </a:prstGeom>
          <a:ln w="12700">
            <a:solidFill>
              <a:srgbClr val="A4B5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40080" y="3529584"/>
            <a:ext cx="502920" cy="283464"/>
          </a:xfrm>
          <a:prstGeom prst="roundRect">
            <a:avLst>
              <a:gd name="adj" fmla="val 12000"/>
            </a:avLst>
          </a:prstGeom>
          <a:solidFill>
            <a:srgbClr val="9D7CFF"/>
          </a:solidFill>
          <a:ln>
            <a:solidFill>
              <a:srgbClr val="9D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538728"/>
            <a:ext cx="50292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ctr"/>
            <a:r>
              <a:rPr sz="800" b="1" i="0">
                <a:solidFill>
                  <a:srgbClr val="070D18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3511296"/>
            <a:ext cx="9601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1" i="0">
                <a:solidFill>
                  <a:srgbClr val="F4F8FC"/>
                </a:solidFill>
                <a:latin typeface="Aptos"/>
              </a:rPr>
              <a:t>CONNECT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3511296"/>
            <a:ext cx="16002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1" i="0">
                <a:solidFill>
                  <a:srgbClr val="9D7CFF"/>
                </a:solidFill>
                <a:latin typeface="Aptos"/>
              </a:rPr>
              <a:t>Attach 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3511296"/>
            <a:ext cx="63093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200" b="0" i="0">
                <a:solidFill>
                  <a:srgbClr val="A4B5C7"/>
                </a:solidFill>
                <a:latin typeface="Aptos"/>
              </a:rPr>
              <a:t>Serial handshake confirms hardware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96112" y="3822192"/>
            <a:ext cx="0" cy="457200"/>
          </a:xfrm>
          <a:prstGeom prst="line">
            <a:avLst/>
          </a:prstGeom>
          <a:ln w="12700">
            <a:solidFill>
              <a:srgbClr val="A4B5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40080" y="4279392"/>
            <a:ext cx="502920" cy="283464"/>
          </a:xfrm>
          <a:prstGeom prst="roundRect">
            <a:avLst>
              <a:gd name="adj" fmla="val 12000"/>
            </a:avLst>
          </a:prstGeom>
          <a:solidFill>
            <a:srgbClr val="FFAB4C"/>
          </a:solidFill>
          <a:ln>
            <a:solidFill>
              <a:srgbClr val="FFA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288536"/>
            <a:ext cx="50292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ctr"/>
            <a:r>
              <a:rPr sz="800" b="1" i="0">
                <a:solidFill>
                  <a:srgbClr val="070D18"/>
                </a:solidFill>
                <a:latin typeface="Apto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4261104"/>
            <a:ext cx="9601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1" i="0">
                <a:solidFill>
                  <a:srgbClr val="F4F8FC"/>
                </a:solidFill>
                <a:latin typeface="Aptos"/>
              </a:rPr>
              <a:t>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80" y="4261104"/>
            <a:ext cx="16002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1" i="0">
                <a:solidFill>
                  <a:srgbClr val="FFAB4C"/>
                </a:solidFill>
                <a:latin typeface="Aptos"/>
              </a:rPr>
              <a:t>Set HIGH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4261104"/>
            <a:ext cx="63093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200" b="0" i="0">
                <a:solidFill>
                  <a:srgbClr val="A4B5C7"/>
                </a:solidFill>
                <a:latin typeface="Aptos"/>
              </a:rPr>
              <a:t>Physical LED changes + UI state updates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96112" y="4572000"/>
            <a:ext cx="0" cy="457200"/>
          </a:xfrm>
          <a:prstGeom prst="line">
            <a:avLst/>
          </a:prstGeom>
          <a:ln w="12700">
            <a:solidFill>
              <a:srgbClr val="A4B5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40080" y="5029200"/>
            <a:ext cx="502920" cy="283464"/>
          </a:xfrm>
          <a:prstGeom prst="roundRect">
            <a:avLst>
              <a:gd name="adj" fmla="val 12000"/>
            </a:avLst>
          </a:prstGeom>
          <a:solidFill>
            <a:srgbClr val="AFEB53"/>
          </a:solidFill>
          <a:ln>
            <a:solidFill>
              <a:srgbClr val="AFE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038344"/>
            <a:ext cx="50292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ctr"/>
            <a:r>
              <a:rPr sz="800" b="1" i="0">
                <a:solidFill>
                  <a:srgbClr val="070D18"/>
                </a:solidFill>
                <a:latin typeface="Aptos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53312" y="5010912"/>
            <a:ext cx="9601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1" i="0">
                <a:solidFill>
                  <a:srgbClr val="F4F8FC"/>
                </a:solidFill>
                <a:latin typeface="Aptos"/>
              </a:rPr>
              <a:t>VERIFY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68880" y="5010912"/>
            <a:ext cx="16002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1" i="0">
                <a:solidFill>
                  <a:srgbClr val="AFEB53"/>
                </a:solidFill>
                <a:latin typeface="Aptos"/>
              </a:rPr>
              <a:t>Read status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06240" y="5010912"/>
            <a:ext cx="63093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200" b="0" i="0">
                <a:solidFill>
                  <a:srgbClr val="A4B5C7"/>
                </a:solidFill>
                <a:latin typeface="Aptos"/>
              </a:rPr>
              <a:t>Board reports pin state back to UI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715000"/>
            <a:ext cx="10881360" cy="502920"/>
          </a:xfrm>
          <a:prstGeom prst="roundRect">
            <a:avLst>
              <a:gd name="adj" fmla="val 12000"/>
            </a:avLst>
          </a:prstGeom>
          <a:solidFill>
            <a:srgbClr val="0C1524"/>
          </a:solidFill>
          <a:ln>
            <a:solidFill>
              <a:srgbClr val="21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5833872"/>
            <a:ext cx="104698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200" b="1" i="0">
                <a:solidFill>
                  <a:srgbClr val="AFEB53"/>
                </a:solidFill>
                <a:latin typeface="Aptos"/>
              </a:rPr>
              <a:t>DEMO MESSAGE  •  “You can see what the code means — then see the real board do it.”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02920" y="6519672"/>
            <a:ext cx="11183112" cy="0"/>
          </a:xfrm>
          <a:prstGeom prst="line">
            <a:avLst/>
          </a:prstGeom>
          <a:ln w="8890">
            <a:solidFill>
              <a:srgbClr val="2134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30352" y="6565392"/>
            <a:ext cx="59436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850" b="1" i="0">
                <a:solidFill>
                  <a:srgbClr val="A4B5C7"/>
                </a:solidFill>
                <a:latin typeface="Aptos"/>
              </a:rPr>
              <a:t>MICROBOARD STUDIO  •  CURIOUSPARC 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" y="6830568"/>
            <a:ext cx="9144" cy="9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Basis: uploaded MicroBoard Studio project documentation + prototype code/firmware; hackathon context from CuriousPARC official site.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1165860" cy="310896"/>
          </a:xfrm>
          <a:prstGeom prst="roundRect">
            <a:avLst>
              <a:gd name="adj" fmla="val 12000"/>
            </a:avLst>
          </a:prstGeom>
          <a:solidFill>
            <a:srgbClr val="2BD3E7"/>
          </a:solidFill>
          <a:ln>
            <a:solidFill>
              <a:srgbClr val="2BD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93192"/>
            <a:ext cx="1165860" cy="3017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ctr"/>
            <a:r>
              <a:rPr sz="1000" b="1" i="0">
                <a:solidFill>
                  <a:srgbClr val="070D18"/>
                </a:solidFill>
                <a:latin typeface="Aptos"/>
              </a:rPr>
              <a:t>TECHNICAL DEPTH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69848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900" b="1" i="0">
                <a:solidFill>
                  <a:srgbClr val="F4F8FC"/>
                </a:solidFill>
                <a:latin typeface="Aptos Display"/>
              </a:rPr>
              <a:t>The prototype is already a real software–firmware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42416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 i="0">
                <a:solidFill>
                  <a:srgbClr val="A4B5C7"/>
                </a:solidFill>
                <a:latin typeface="Aptos"/>
              </a:rPr>
              <a:t>The uploaded project contains a React interface and Arduino firmware implementing a serial command protocol.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93192"/>
            <a:ext cx="502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1000" b="1" i="0">
                <a:solidFill>
                  <a:srgbClr val="A4B5C7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993392"/>
            <a:ext cx="5577840" cy="3611880"/>
          </a:xfrm>
          <a:prstGeom prst="roundRect">
            <a:avLst>
              <a:gd name="adj" fmla="val 12000"/>
            </a:avLst>
          </a:prstGeom>
          <a:solidFill>
            <a:srgbClr val="0C1524"/>
          </a:solidFill>
          <a:ln>
            <a:solidFill>
              <a:srgbClr val="21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212848"/>
            <a:ext cx="960120" cy="256032"/>
          </a:xfrm>
          <a:prstGeom prst="roundRect">
            <a:avLst>
              <a:gd name="adj" fmla="val 12000"/>
            </a:avLst>
          </a:prstGeom>
          <a:solidFill>
            <a:srgbClr val="AFEB53"/>
          </a:solidFill>
          <a:ln>
            <a:solidFill>
              <a:srgbClr val="AFE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221991"/>
            <a:ext cx="960120" cy="2468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ctr"/>
            <a:r>
              <a:rPr sz="800" b="1" i="0">
                <a:solidFill>
                  <a:srgbClr val="070D18"/>
                </a:solidFill>
                <a:latin typeface="Aptos"/>
              </a:rPr>
              <a:t>FIRMWARE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97480"/>
            <a:ext cx="18288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1" i="0">
                <a:solidFill>
                  <a:srgbClr val="2BD3E7"/>
                </a:solidFill>
                <a:latin typeface="Consolas"/>
              </a:rPr>
              <a:t>STATUS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697480"/>
            <a:ext cx="30175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100" b="0" i="0">
                <a:solidFill>
                  <a:srgbClr val="A4B5C7"/>
                </a:solidFill>
                <a:latin typeface="Aptos"/>
              </a:rPr>
              <a:t>→ returns D0…D13 mode + level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310128"/>
            <a:ext cx="18288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1" i="0">
                <a:solidFill>
                  <a:srgbClr val="2BD3E7"/>
                </a:solidFill>
                <a:latin typeface="Consolas"/>
              </a:rPr>
              <a:t>MODE 13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310128"/>
            <a:ext cx="30175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100" b="0" i="0">
                <a:solidFill>
                  <a:srgbClr val="A4B5C7"/>
                </a:solidFill>
                <a:latin typeface="Aptos"/>
              </a:rPr>
              <a:t>→ configures physical pin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922776"/>
            <a:ext cx="18288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1" i="0">
                <a:solidFill>
                  <a:srgbClr val="2BD3E7"/>
                </a:solidFill>
                <a:latin typeface="Consolas"/>
              </a:rPr>
              <a:t>SET 13 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922776"/>
            <a:ext cx="30175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100" b="0" i="0">
                <a:solidFill>
                  <a:srgbClr val="A4B5C7"/>
                </a:solidFill>
                <a:latin typeface="Aptos"/>
              </a:rPr>
              <a:t>→ drives D13 HIGH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35424"/>
            <a:ext cx="18288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1" i="0">
                <a:solidFill>
                  <a:srgbClr val="2BD3E7"/>
                </a:solidFill>
                <a:latin typeface="Consolas"/>
              </a:rPr>
              <a:t>READ 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535424"/>
            <a:ext cx="30175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100" b="0" i="0">
                <a:solidFill>
                  <a:srgbClr val="A4B5C7"/>
                </a:solidFill>
                <a:latin typeface="Aptos"/>
              </a:rPr>
              <a:t>→ returns current state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1993392"/>
            <a:ext cx="2423160" cy="1554480"/>
          </a:xfrm>
          <a:prstGeom prst="roundRect">
            <a:avLst>
              <a:gd name="adj" fmla="val 12000"/>
            </a:avLst>
          </a:prstGeom>
          <a:solidFill>
            <a:srgbClr val="111D2F"/>
          </a:solidFill>
          <a:ln>
            <a:solidFill>
              <a:srgbClr val="21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46520" y="1993392"/>
            <a:ext cx="64008" cy="1554480"/>
          </a:xfrm>
          <a:prstGeom prst="roundRect">
            <a:avLst>
              <a:gd name="adj" fmla="val 12000"/>
            </a:avLst>
          </a:prstGeom>
          <a:solidFill>
            <a:srgbClr val="2BD3E7"/>
          </a:solidFill>
          <a:ln>
            <a:solidFill>
              <a:srgbClr val="2BD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65976" y="2194560"/>
            <a:ext cx="2011679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600" b="1" i="0">
                <a:solidFill>
                  <a:srgbClr val="F4F8FC"/>
                </a:solidFill>
                <a:latin typeface="Aptos Display"/>
              </a:rPr>
              <a:t>FRONTEND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5976" y="2633472"/>
            <a:ext cx="2011679" cy="786383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100" b="0" i="0">
                <a:solidFill>
                  <a:srgbClr val="A4B5C7"/>
                </a:solidFill>
                <a:latin typeface="Aptos"/>
              </a:rPr>
              <a:t>React 19 + TypeScript + Vite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98280" y="1993392"/>
            <a:ext cx="2423160" cy="1554480"/>
          </a:xfrm>
          <a:prstGeom prst="roundRect">
            <a:avLst>
              <a:gd name="adj" fmla="val 12000"/>
            </a:avLst>
          </a:prstGeom>
          <a:solidFill>
            <a:srgbClr val="111D2F"/>
          </a:solidFill>
          <a:ln>
            <a:solidFill>
              <a:srgbClr val="21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98280" y="1993392"/>
            <a:ext cx="64008" cy="1554480"/>
          </a:xfrm>
          <a:prstGeom prst="roundRect">
            <a:avLst>
              <a:gd name="adj" fmla="val 12000"/>
            </a:avLst>
          </a:prstGeom>
          <a:solidFill>
            <a:srgbClr val="9D7CFF"/>
          </a:solidFill>
          <a:ln>
            <a:solidFill>
              <a:srgbClr val="9D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17736" y="2194560"/>
            <a:ext cx="2011679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600" b="1" i="0">
                <a:solidFill>
                  <a:srgbClr val="F4F8FC"/>
                </a:solidFill>
                <a:latin typeface="Aptos Display"/>
              </a:rPr>
              <a:t>UI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17736" y="2633472"/>
            <a:ext cx="2011679" cy="786383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100" b="0" i="0">
                <a:solidFill>
                  <a:srgbClr val="A4B5C7"/>
                </a:solidFill>
                <a:latin typeface="Aptos"/>
              </a:rPr>
              <a:t>Pin Explorer • Code Visualizer • Register Viewer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46520" y="3794760"/>
            <a:ext cx="2423160" cy="1554480"/>
          </a:xfrm>
          <a:prstGeom prst="roundRect">
            <a:avLst>
              <a:gd name="adj" fmla="val 12000"/>
            </a:avLst>
          </a:prstGeom>
          <a:solidFill>
            <a:srgbClr val="111D2F"/>
          </a:solidFill>
          <a:ln>
            <a:solidFill>
              <a:srgbClr val="21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46520" y="3794760"/>
            <a:ext cx="64008" cy="1554480"/>
          </a:xfrm>
          <a:prstGeom prst="roundRect">
            <a:avLst>
              <a:gd name="adj" fmla="val 12000"/>
            </a:avLst>
          </a:prstGeom>
          <a:solidFill>
            <a:srgbClr val="AFEB53"/>
          </a:solidFill>
          <a:ln>
            <a:solidFill>
              <a:srgbClr val="AFE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65976" y="3995928"/>
            <a:ext cx="2011679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600" b="1" i="0">
                <a:solidFill>
                  <a:srgbClr val="F4F8FC"/>
                </a:solidFill>
                <a:latin typeface="Aptos Display"/>
              </a:rPr>
              <a:t>HARDWARE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65976" y="4434840"/>
            <a:ext cx="2011679" cy="7863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100" b="0" i="0">
                <a:solidFill>
                  <a:srgbClr val="A4B5C7"/>
                </a:solidFill>
                <a:latin typeface="Aptos"/>
              </a:rPr>
              <a:t>Arduino Uno / ATmega328P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98280" y="3794760"/>
            <a:ext cx="2423160" cy="1554480"/>
          </a:xfrm>
          <a:prstGeom prst="roundRect">
            <a:avLst>
              <a:gd name="adj" fmla="val 12000"/>
            </a:avLst>
          </a:prstGeom>
          <a:solidFill>
            <a:srgbClr val="111D2F"/>
          </a:solidFill>
          <a:ln>
            <a:solidFill>
              <a:srgbClr val="21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098280" y="3794760"/>
            <a:ext cx="64008" cy="1554480"/>
          </a:xfrm>
          <a:prstGeom prst="roundRect">
            <a:avLst>
              <a:gd name="adj" fmla="val 12000"/>
            </a:avLst>
          </a:prstGeom>
          <a:solidFill>
            <a:srgbClr val="FFAB4C"/>
          </a:solidFill>
          <a:ln>
            <a:solidFill>
              <a:srgbClr val="FFA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17736" y="3995928"/>
            <a:ext cx="2011679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600" b="1" i="0">
                <a:solidFill>
                  <a:srgbClr val="F4F8FC"/>
                </a:solidFill>
                <a:latin typeface="Aptos Display"/>
              </a:rPr>
              <a:t>LINK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17736" y="4434840"/>
            <a:ext cx="2011679" cy="7863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100" b="0" i="0">
                <a:solidFill>
                  <a:srgbClr val="A4B5C7"/>
                </a:solidFill>
                <a:latin typeface="Aptos"/>
              </a:rPr>
              <a:t>Web Serial + firmware protocol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5870448"/>
            <a:ext cx="1083564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200" b="1" i="0">
                <a:solidFill>
                  <a:srgbClr val="F4F8FC"/>
                </a:solidFill>
                <a:latin typeface="Aptos"/>
              </a:rPr>
              <a:t>This is not a slideware-only concept: the project package includes build output and firmware.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02920" y="6519672"/>
            <a:ext cx="11183112" cy="0"/>
          </a:xfrm>
          <a:prstGeom prst="line">
            <a:avLst/>
          </a:prstGeom>
          <a:ln w="8890">
            <a:solidFill>
              <a:srgbClr val="2134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30352" y="6565392"/>
            <a:ext cx="59436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850" b="1" i="0">
                <a:solidFill>
                  <a:srgbClr val="A4B5C7"/>
                </a:solidFill>
                <a:latin typeface="Aptos"/>
              </a:rPr>
              <a:t>MICROBOARD STUDIO  •  CURIOUSPARC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" y="6830568"/>
            <a:ext cx="9144" cy="9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Basis: uploaded MicroBoard Studio project documentation + prototype code/firmware; hackathon context from CuriousPARC official site.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822960" cy="310896"/>
          </a:xfrm>
          <a:prstGeom prst="roundRect">
            <a:avLst>
              <a:gd name="adj" fmla="val 12000"/>
            </a:avLst>
          </a:prstGeom>
          <a:solidFill>
            <a:srgbClr val="2BD3E7"/>
          </a:solidFill>
          <a:ln>
            <a:solidFill>
              <a:srgbClr val="2BD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93192"/>
            <a:ext cx="822960" cy="3017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ctr"/>
            <a:r>
              <a:rPr sz="1000" b="1" i="0">
                <a:solidFill>
                  <a:srgbClr val="070D18"/>
                </a:solidFill>
                <a:latin typeface="Aptos"/>
              </a:rPr>
              <a:t>MVP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69848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900" b="1" i="0">
                <a:solidFill>
                  <a:srgbClr val="F4F8FC"/>
                </a:solidFill>
                <a:latin typeface="Aptos Display"/>
              </a:rPr>
              <a:t>What is real today vs. what comes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42416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 i="0">
                <a:solidFill>
                  <a:srgbClr val="A4B5C7"/>
                </a:solidFill>
                <a:latin typeface="Aptos"/>
              </a:rPr>
              <a:t>Keeping this distinction explicit makes the submission more credible.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93192"/>
            <a:ext cx="502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1000" b="1" i="0">
                <a:solidFill>
                  <a:srgbClr val="A4B5C7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011680"/>
            <a:ext cx="5303520" cy="3566160"/>
          </a:xfrm>
          <a:prstGeom prst="roundRect">
            <a:avLst>
              <a:gd name="adj" fmla="val 12000"/>
            </a:avLst>
          </a:prstGeom>
          <a:solidFill>
            <a:srgbClr val="111D2F"/>
          </a:solidFill>
          <a:ln>
            <a:solidFill>
              <a:srgbClr val="21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2258568"/>
            <a:ext cx="1234440" cy="274320"/>
          </a:xfrm>
          <a:prstGeom prst="roundRect">
            <a:avLst>
              <a:gd name="adj" fmla="val 12000"/>
            </a:avLst>
          </a:prstGeom>
          <a:solidFill>
            <a:srgbClr val="2BD3E7"/>
          </a:solidFill>
          <a:ln>
            <a:solidFill>
              <a:srgbClr val="2BD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67712"/>
            <a:ext cx="1234440" cy="2651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ctr"/>
            <a:r>
              <a:rPr sz="800" b="1" i="0">
                <a:solidFill>
                  <a:srgbClr val="070D18"/>
                </a:solidFill>
                <a:latin typeface="Aptos"/>
              </a:rPr>
              <a:t>PROTOTYPE NOW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89503"/>
            <a:ext cx="64008" cy="64008"/>
          </a:xfrm>
          <a:prstGeom prst="roundRect">
            <a:avLst>
              <a:gd name="adj" fmla="val 12000"/>
            </a:avLst>
          </a:prstGeom>
          <a:solidFill>
            <a:srgbClr val="2BD3E7"/>
          </a:solidFill>
          <a:ln>
            <a:solidFill>
              <a:srgbClr val="2BD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2788920"/>
            <a:ext cx="4453128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150" b="0" i="0">
                <a:solidFill>
                  <a:srgbClr val="F4F8FC"/>
                </a:solidFill>
                <a:latin typeface="Aptos"/>
              </a:rPr>
              <a:t>Interactive Arduino pin / peripheral views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319271"/>
            <a:ext cx="64008" cy="64008"/>
          </a:xfrm>
          <a:prstGeom prst="roundRect">
            <a:avLst>
              <a:gd name="adj" fmla="val 12000"/>
            </a:avLst>
          </a:prstGeom>
          <a:solidFill>
            <a:srgbClr val="2BD3E7"/>
          </a:solidFill>
          <a:ln>
            <a:solidFill>
              <a:srgbClr val="2BD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1" y="3218687"/>
            <a:ext cx="4453128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150" b="0" i="0">
                <a:solidFill>
                  <a:srgbClr val="F4F8FC"/>
                </a:solidFill>
                <a:latin typeface="Aptos"/>
              </a:rPr>
              <a:t>Code-to-hardware visualization concepts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749039"/>
            <a:ext cx="64008" cy="64008"/>
          </a:xfrm>
          <a:prstGeom prst="roundRect">
            <a:avLst>
              <a:gd name="adj" fmla="val 12000"/>
            </a:avLst>
          </a:prstGeom>
          <a:solidFill>
            <a:srgbClr val="2BD3E7"/>
          </a:solidFill>
          <a:ln>
            <a:solidFill>
              <a:srgbClr val="2BD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1" y="3648456"/>
            <a:ext cx="4453128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150" b="0" i="0">
                <a:solidFill>
                  <a:srgbClr val="F4F8FC"/>
                </a:solidFill>
                <a:latin typeface="Aptos"/>
              </a:rPr>
              <a:t>Register visualization components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178808"/>
            <a:ext cx="64008" cy="64008"/>
          </a:xfrm>
          <a:prstGeom prst="roundRect">
            <a:avLst>
              <a:gd name="adj" fmla="val 12000"/>
            </a:avLst>
          </a:prstGeom>
          <a:solidFill>
            <a:srgbClr val="2BD3E7"/>
          </a:solidFill>
          <a:ln>
            <a:solidFill>
              <a:srgbClr val="2BD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1" y="4078224"/>
            <a:ext cx="4453128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150" b="0" i="0">
                <a:solidFill>
                  <a:srgbClr val="F4F8FC"/>
                </a:solidFill>
                <a:latin typeface="Aptos"/>
              </a:rPr>
              <a:t>Web Serial connection path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608576"/>
            <a:ext cx="64008" cy="64008"/>
          </a:xfrm>
          <a:prstGeom prst="roundRect">
            <a:avLst>
              <a:gd name="adj" fmla="val 12000"/>
            </a:avLst>
          </a:prstGeom>
          <a:solidFill>
            <a:srgbClr val="2BD3E7"/>
          </a:solidFill>
          <a:ln>
            <a:solidFill>
              <a:srgbClr val="2BD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1" y="4507992"/>
            <a:ext cx="4453128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150" b="0" i="0">
                <a:solidFill>
                  <a:srgbClr val="F4F8FC"/>
                </a:solidFill>
                <a:latin typeface="Aptos"/>
              </a:rPr>
              <a:t>Arduino firmware: MODE / SET / READ /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5038344"/>
            <a:ext cx="64008" cy="64008"/>
          </a:xfrm>
          <a:prstGeom prst="roundRect">
            <a:avLst>
              <a:gd name="adj" fmla="val 12000"/>
            </a:avLst>
          </a:prstGeom>
          <a:solidFill>
            <a:srgbClr val="2BD3E7"/>
          </a:solidFill>
          <a:ln>
            <a:solidFill>
              <a:srgbClr val="2BD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3271" y="4937759"/>
            <a:ext cx="4453128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150" b="0" i="0">
                <a:solidFill>
                  <a:srgbClr val="F4F8FC"/>
                </a:solidFill>
                <a:latin typeface="Aptos"/>
              </a:rPr>
              <a:t>Live physical pin-state handling for digital pins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011680"/>
            <a:ext cx="5303520" cy="3566160"/>
          </a:xfrm>
          <a:prstGeom prst="roundRect">
            <a:avLst>
              <a:gd name="adj" fmla="val 12000"/>
            </a:avLst>
          </a:prstGeom>
          <a:solidFill>
            <a:srgbClr val="111D2F"/>
          </a:solidFill>
          <a:ln>
            <a:solidFill>
              <a:srgbClr val="21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37960" y="2258568"/>
            <a:ext cx="1737360" cy="274320"/>
          </a:xfrm>
          <a:prstGeom prst="roundRect">
            <a:avLst>
              <a:gd name="adj" fmla="val 12000"/>
            </a:avLst>
          </a:prstGeom>
          <a:solidFill>
            <a:srgbClr val="AFEB53"/>
          </a:solidFill>
          <a:ln>
            <a:solidFill>
              <a:srgbClr val="AFE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267712"/>
            <a:ext cx="1737360" cy="2651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ctr"/>
            <a:r>
              <a:rPr sz="800" b="1" i="0">
                <a:solidFill>
                  <a:srgbClr val="070D18"/>
                </a:solidFill>
                <a:latin typeface="Aptos"/>
              </a:rPr>
              <a:t>NEXT HARDWARE ITERATION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37960" y="2889503"/>
            <a:ext cx="64008" cy="64008"/>
          </a:xfrm>
          <a:prstGeom prst="roundRect">
            <a:avLst>
              <a:gd name="adj" fmla="val 12000"/>
            </a:avLst>
          </a:prstGeom>
          <a:solidFill>
            <a:srgbClr val="AFEB53"/>
          </a:solidFill>
          <a:ln>
            <a:solidFill>
              <a:srgbClr val="AFE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02552" y="2788920"/>
            <a:ext cx="4453128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150" b="0" i="0">
                <a:solidFill>
                  <a:srgbClr val="F4F8FC"/>
                </a:solidFill>
                <a:latin typeface="Aptos"/>
              </a:rPr>
              <a:t>Custom MicroBoard PCB / headers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37960" y="3319271"/>
            <a:ext cx="64008" cy="64008"/>
          </a:xfrm>
          <a:prstGeom prst="roundRect">
            <a:avLst>
              <a:gd name="adj" fmla="val 12000"/>
            </a:avLst>
          </a:prstGeom>
          <a:solidFill>
            <a:srgbClr val="AFEB53"/>
          </a:solidFill>
          <a:ln>
            <a:solidFill>
              <a:srgbClr val="AFE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02552" y="3218687"/>
            <a:ext cx="4453128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150" b="0" i="0">
                <a:solidFill>
                  <a:srgbClr val="F4F8FC"/>
                </a:solidFill>
                <a:latin typeface="Aptos"/>
              </a:rPr>
              <a:t>Per-pin protection and sensing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37960" y="3749039"/>
            <a:ext cx="64008" cy="64008"/>
          </a:xfrm>
          <a:prstGeom prst="roundRect">
            <a:avLst>
              <a:gd name="adj" fmla="val 12000"/>
            </a:avLst>
          </a:prstGeom>
          <a:solidFill>
            <a:srgbClr val="AFEB53"/>
          </a:solidFill>
          <a:ln>
            <a:solidFill>
              <a:srgbClr val="AFE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02552" y="3648456"/>
            <a:ext cx="4453128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150" b="0" i="0">
                <a:solidFill>
                  <a:srgbClr val="F4F8FC"/>
                </a:solidFill>
                <a:latin typeface="Aptos"/>
              </a:rPr>
              <a:t>Automatic pin planning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37960" y="4178808"/>
            <a:ext cx="64008" cy="64008"/>
          </a:xfrm>
          <a:prstGeom prst="roundRect">
            <a:avLst>
              <a:gd name="adj" fmla="val 12000"/>
            </a:avLst>
          </a:prstGeom>
          <a:solidFill>
            <a:srgbClr val="AFEB53"/>
          </a:solidFill>
          <a:ln>
            <a:solidFill>
              <a:srgbClr val="AFE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02552" y="4078224"/>
            <a:ext cx="4453128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150" b="0" i="0">
                <a:solidFill>
                  <a:srgbClr val="F4F8FC"/>
                </a:solidFill>
                <a:latin typeface="Aptos"/>
              </a:rPr>
              <a:t>Conflict detection across peripherals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37960" y="4608576"/>
            <a:ext cx="64008" cy="64008"/>
          </a:xfrm>
          <a:prstGeom prst="roundRect">
            <a:avLst>
              <a:gd name="adj" fmla="val 12000"/>
            </a:avLst>
          </a:prstGeom>
          <a:solidFill>
            <a:srgbClr val="AFEB53"/>
          </a:solidFill>
          <a:ln>
            <a:solidFill>
              <a:srgbClr val="AFE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02552" y="4507992"/>
            <a:ext cx="4453128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150" b="0" i="0">
                <a:solidFill>
                  <a:srgbClr val="F4F8FC"/>
                </a:solidFill>
                <a:latin typeface="Aptos"/>
              </a:rPr>
              <a:t>Signal / protocol visualization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37960" y="5038344"/>
            <a:ext cx="64008" cy="64008"/>
          </a:xfrm>
          <a:prstGeom prst="roundRect">
            <a:avLst>
              <a:gd name="adj" fmla="val 12000"/>
            </a:avLst>
          </a:prstGeom>
          <a:solidFill>
            <a:srgbClr val="AFEB53"/>
          </a:solidFill>
          <a:ln>
            <a:solidFill>
              <a:srgbClr val="AFE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02552" y="4937759"/>
            <a:ext cx="4453128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150" b="0" i="0">
                <a:solidFill>
                  <a:srgbClr val="F4F8FC"/>
                </a:solidFill>
                <a:latin typeface="Aptos"/>
              </a:rPr>
              <a:t>Broader MCU support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5806440"/>
            <a:ext cx="8686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000" b="1" i="0">
                <a:solidFill>
                  <a:srgbClr val="A4B5C7"/>
                </a:solidFill>
                <a:latin typeface="Aptos"/>
              </a:rPr>
              <a:t>Positioning: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45920" y="5760720"/>
            <a:ext cx="94183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400" b="1" i="0">
                <a:solidFill>
                  <a:srgbClr val="F4F8FC"/>
                </a:solidFill>
                <a:latin typeface="Aptos"/>
              </a:rPr>
              <a:t>Prototype = proof of interaction. Custom board = the product direction.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02920" y="6519672"/>
            <a:ext cx="11183112" cy="0"/>
          </a:xfrm>
          <a:prstGeom prst="line">
            <a:avLst/>
          </a:prstGeom>
          <a:ln w="8890">
            <a:solidFill>
              <a:srgbClr val="2134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30352" y="6565392"/>
            <a:ext cx="59436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850" b="1" i="0">
                <a:solidFill>
                  <a:srgbClr val="A4B5C7"/>
                </a:solidFill>
                <a:latin typeface="Aptos"/>
              </a:rPr>
              <a:t>MICROBOARD STUDIO  •  CURIOUSPARC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" y="6830568"/>
            <a:ext cx="9144" cy="9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Basis: uploaded MicroBoard Studio project documentation + prototype code/firmware; hackathon context from CuriousPARC official site.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822960" cy="310896"/>
          </a:xfrm>
          <a:prstGeom prst="roundRect">
            <a:avLst>
              <a:gd name="adj" fmla="val 12000"/>
            </a:avLst>
          </a:prstGeom>
          <a:solidFill>
            <a:srgbClr val="2BD3E7"/>
          </a:solidFill>
          <a:ln>
            <a:solidFill>
              <a:srgbClr val="2BD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93192"/>
            <a:ext cx="822960" cy="3017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ctr"/>
            <a:r>
              <a:rPr sz="1000" b="1" i="0">
                <a:solidFill>
                  <a:srgbClr val="070D18"/>
                </a:solidFill>
                <a:latin typeface="Aptos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69848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900" b="1" i="0">
                <a:solidFill>
                  <a:srgbClr val="F4F8FC"/>
                </a:solidFill>
                <a:latin typeface="Aptos Display"/>
              </a:rPr>
              <a:t>From educational tool → hardware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42416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0" i="0">
                <a:solidFill>
                  <a:srgbClr val="A4B5C7"/>
                </a:solidFill>
                <a:latin typeface="Aptos"/>
              </a:rPr>
              <a:t>Build depth in layers; each step reuses the same pin-mapping and hardware-connection foundation.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93192"/>
            <a:ext cx="502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1000" b="1" i="0">
                <a:solidFill>
                  <a:srgbClr val="A4B5C7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331720"/>
            <a:ext cx="2331720" cy="2011680"/>
          </a:xfrm>
          <a:prstGeom prst="roundRect">
            <a:avLst>
              <a:gd name="adj" fmla="val 12000"/>
            </a:avLst>
          </a:prstGeom>
          <a:solidFill>
            <a:srgbClr val="111D2F"/>
          </a:solidFill>
          <a:ln>
            <a:solidFill>
              <a:srgbClr val="21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2560320"/>
            <a:ext cx="685800" cy="256032"/>
          </a:xfrm>
          <a:prstGeom prst="roundRect">
            <a:avLst>
              <a:gd name="adj" fmla="val 12000"/>
            </a:avLst>
          </a:prstGeom>
          <a:solidFill>
            <a:srgbClr val="2BD3E7"/>
          </a:solidFill>
          <a:ln>
            <a:solidFill>
              <a:srgbClr val="2BD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569463"/>
            <a:ext cx="685800" cy="2468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ctr"/>
            <a:r>
              <a:rPr sz="800" b="1" i="0">
                <a:solidFill>
                  <a:srgbClr val="070D18"/>
                </a:solidFill>
                <a:latin typeface="Aptos"/>
              </a:rPr>
              <a:t>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63240"/>
            <a:ext cx="196596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500" b="1" i="0">
                <a:solidFill>
                  <a:srgbClr val="F4F8FC"/>
                </a:solidFill>
                <a:latin typeface="Aptos Display"/>
              </a:rPr>
              <a:t>Uno + live digital I/O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886200"/>
            <a:ext cx="19659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000" b="1" i="0">
                <a:solidFill>
                  <a:srgbClr val="2BD3E7"/>
                </a:solidFill>
                <a:latin typeface="Aptos"/>
              </a:rPr>
              <a:t>PROOF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17520" y="3337560"/>
            <a:ext cx="457200" cy="0"/>
          </a:xfrm>
          <a:prstGeom prst="line">
            <a:avLst/>
          </a:prstGeom>
          <a:ln w="19050">
            <a:solidFill>
              <a:srgbClr val="A4B5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74720" y="2331720"/>
            <a:ext cx="2331720" cy="2011680"/>
          </a:xfrm>
          <a:prstGeom prst="roundRect">
            <a:avLst>
              <a:gd name="adj" fmla="val 12000"/>
            </a:avLst>
          </a:prstGeom>
          <a:solidFill>
            <a:srgbClr val="111D2F"/>
          </a:solidFill>
          <a:ln>
            <a:solidFill>
              <a:srgbClr val="21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57600" y="2560320"/>
            <a:ext cx="685800" cy="256032"/>
          </a:xfrm>
          <a:prstGeom prst="roundRect">
            <a:avLst>
              <a:gd name="adj" fmla="val 12000"/>
            </a:avLst>
          </a:prstGeom>
          <a:solidFill>
            <a:srgbClr val="AFEB53"/>
          </a:solidFill>
          <a:ln>
            <a:solidFill>
              <a:srgbClr val="AFE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2569463"/>
            <a:ext cx="685800" cy="2468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ctr"/>
            <a:r>
              <a:rPr sz="800" b="1" i="0">
                <a:solidFill>
                  <a:srgbClr val="070D18"/>
                </a:solidFill>
                <a:latin typeface="Aptos"/>
              </a:rPr>
              <a:t>NEXT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063240"/>
            <a:ext cx="196596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500" b="1" i="0">
                <a:solidFill>
                  <a:srgbClr val="F4F8FC"/>
                </a:solidFill>
                <a:latin typeface="Aptos Display"/>
              </a:rPr>
              <a:t>Custom PCB + protection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886200"/>
            <a:ext cx="19659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000" b="1" i="0">
                <a:solidFill>
                  <a:srgbClr val="AFEB53"/>
                </a:solidFill>
                <a:latin typeface="Aptos"/>
              </a:rPr>
              <a:t>BOARD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806440" y="3337560"/>
            <a:ext cx="457200" cy="0"/>
          </a:xfrm>
          <a:prstGeom prst="line">
            <a:avLst/>
          </a:prstGeom>
          <a:ln w="19050">
            <a:solidFill>
              <a:srgbClr val="A4B5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63640" y="2331720"/>
            <a:ext cx="2331720" cy="2011680"/>
          </a:xfrm>
          <a:prstGeom prst="roundRect">
            <a:avLst>
              <a:gd name="adj" fmla="val 12000"/>
            </a:avLst>
          </a:prstGeom>
          <a:solidFill>
            <a:srgbClr val="111D2F"/>
          </a:solidFill>
          <a:ln>
            <a:solidFill>
              <a:srgbClr val="21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46520" y="2560320"/>
            <a:ext cx="685800" cy="256032"/>
          </a:xfrm>
          <a:prstGeom prst="roundRect">
            <a:avLst>
              <a:gd name="adj" fmla="val 12000"/>
            </a:avLst>
          </a:prstGeom>
          <a:solidFill>
            <a:srgbClr val="9D7CFF"/>
          </a:solidFill>
          <a:ln>
            <a:solidFill>
              <a:srgbClr val="9D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569463"/>
            <a:ext cx="685800" cy="2468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ctr"/>
            <a:r>
              <a:rPr sz="800" b="1" i="0">
                <a:solidFill>
                  <a:srgbClr val="070D18"/>
                </a:solidFill>
                <a:latin typeface="Aptos"/>
              </a:rPr>
              <a:t>THEN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063240"/>
            <a:ext cx="196596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500" b="1" i="0">
                <a:solidFill>
                  <a:srgbClr val="F4F8FC"/>
                </a:solidFill>
                <a:latin typeface="Aptos Display"/>
              </a:rPr>
              <a:t>Conflict-aware planner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886200"/>
            <a:ext cx="19659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000" b="1" i="0">
                <a:solidFill>
                  <a:srgbClr val="9D7CFF"/>
                </a:solidFill>
                <a:latin typeface="Aptos"/>
              </a:rPr>
              <a:t>AUTOMATION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95359" y="3337560"/>
            <a:ext cx="457200" cy="0"/>
          </a:xfrm>
          <a:prstGeom prst="line">
            <a:avLst/>
          </a:prstGeom>
          <a:ln w="19050">
            <a:solidFill>
              <a:srgbClr val="A4B5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52559" y="2331720"/>
            <a:ext cx="2331720" cy="2011680"/>
          </a:xfrm>
          <a:prstGeom prst="roundRect">
            <a:avLst>
              <a:gd name="adj" fmla="val 12000"/>
            </a:avLst>
          </a:prstGeom>
          <a:solidFill>
            <a:srgbClr val="111D2F"/>
          </a:solidFill>
          <a:ln>
            <a:solidFill>
              <a:srgbClr val="21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235439" y="2560320"/>
            <a:ext cx="685800" cy="256032"/>
          </a:xfrm>
          <a:prstGeom prst="roundRect">
            <a:avLst>
              <a:gd name="adj" fmla="val 12000"/>
            </a:avLst>
          </a:prstGeom>
          <a:solidFill>
            <a:srgbClr val="FFAB4C"/>
          </a:solidFill>
          <a:ln>
            <a:solidFill>
              <a:srgbClr val="FFA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5439" y="2569463"/>
            <a:ext cx="685800" cy="2468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ctr"/>
            <a:r>
              <a:rPr sz="800" b="1" i="0">
                <a:solidFill>
                  <a:srgbClr val="070D18"/>
                </a:solidFill>
                <a:latin typeface="Aptos"/>
              </a:rPr>
              <a:t>SCALE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39" y="3063240"/>
            <a:ext cx="196596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500" b="1" i="0">
                <a:solidFill>
                  <a:srgbClr val="F4F8FC"/>
                </a:solidFill>
                <a:latin typeface="Aptos Display"/>
              </a:rPr>
              <a:t>ESP32 / STM32 / RP2040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39" y="3886200"/>
            <a:ext cx="19659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000" b="1" i="0">
                <a:solidFill>
                  <a:srgbClr val="FFAB4C"/>
                </a:solidFill>
                <a:latin typeface="Aptos"/>
              </a:rPr>
              <a:t>PLATFORM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983480"/>
            <a:ext cx="21945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200" b="1" i="0">
                <a:solidFill>
                  <a:srgbClr val="A4B5C7"/>
                </a:solidFill>
                <a:latin typeface="Aptos"/>
              </a:rPr>
              <a:t>The same core loop remains: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880360" y="4956048"/>
            <a:ext cx="731520" cy="283464"/>
          </a:xfrm>
          <a:prstGeom prst="roundRect">
            <a:avLst>
              <a:gd name="adj" fmla="val 12000"/>
            </a:avLst>
          </a:prstGeom>
          <a:solidFill>
            <a:srgbClr val="2BD3E7"/>
          </a:solidFill>
          <a:ln>
            <a:solidFill>
              <a:srgbClr val="2BD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80360" y="4965192"/>
            <a:ext cx="73152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ctr"/>
            <a:r>
              <a:rPr sz="800" b="1" i="0">
                <a:solidFill>
                  <a:srgbClr val="070D18"/>
                </a:solidFill>
                <a:latin typeface="Aptos"/>
              </a:rPr>
              <a:t>MAP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749039" y="4956048"/>
            <a:ext cx="1051560" cy="283464"/>
          </a:xfrm>
          <a:prstGeom prst="roundRect">
            <a:avLst>
              <a:gd name="adj" fmla="val 12000"/>
            </a:avLst>
          </a:prstGeom>
          <a:solidFill>
            <a:srgbClr val="9D7CFF"/>
          </a:solidFill>
          <a:ln>
            <a:solidFill>
              <a:srgbClr val="9D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49039" y="4965192"/>
            <a:ext cx="105156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ctr"/>
            <a:r>
              <a:rPr sz="800" b="1" i="0">
                <a:solidFill>
                  <a:srgbClr val="070D18"/>
                </a:solidFill>
                <a:latin typeface="Aptos"/>
              </a:rPr>
              <a:t>VISUALIZE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937760" y="4956048"/>
            <a:ext cx="914400" cy="283464"/>
          </a:xfrm>
          <a:prstGeom prst="roundRect">
            <a:avLst>
              <a:gd name="adj" fmla="val 12000"/>
            </a:avLst>
          </a:prstGeom>
          <a:solidFill>
            <a:srgbClr val="FFAB4C"/>
          </a:solidFill>
          <a:ln>
            <a:solidFill>
              <a:srgbClr val="FFA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37760" y="4965192"/>
            <a:ext cx="91440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ctr"/>
            <a:r>
              <a:rPr sz="800" b="1" i="0">
                <a:solidFill>
                  <a:srgbClr val="070D18"/>
                </a:solidFill>
                <a:latin typeface="Aptos"/>
              </a:rPr>
              <a:t>CONNECT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89320" y="4956048"/>
            <a:ext cx="822960" cy="283464"/>
          </a:xfrm>
          <a:prstGeom prst="roundRect">
            <a:avLst>
              <a:gd name="adj" fmla="val 12000"/>
            </a:avLst>
          </a:prstGeom>
          <a:solidFill>
            <a:srgbClr val="AFEB53"/>
          </a:solidFill>
          <a:ln>
            <a:solidFill>
              <a:srgbClr val="AFE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89320" y="4965192"/>
            <a:ext cx="82296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ctr"/>
            <a:r>
              <a:rPr sz="800" b="1" i="0">
                <a:solidFill>
                  <a:srgbClr val="070D18"/>
                </a:solidFill>
                <a:latin typeface="Aptos"/>
              </a:rPr>
              <a:t>VERIFY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67728" y="4919472"/>
            <a:ext cx="2743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ctr"/>
            <a:r>
              <a:rPr sz="1800" b="1" i="0">
                <a:solidFill>
                  <a:srgbClr val="A4B5C7"/>
                </a:solidFill>
                <a:latin typeface="Aptos"/>
              </a:rPr>
              <a:t>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69480" y="4983480"/>
            <a:ext cx="2743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300" b="1" i="0">
                <a:solidFill>
                  <a:srgbClr val="F4F8FC"/>
                </a:solidFill>
                <a:latin typeface="Aptos"/>
              </a:rPr>
              <a:t>real hardware feedback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02920" y="6519672"/>
            <a:ext cx="11183112" cy="0"/>
          </a:xfrm>
          <a:prstGeom prst="line">
            <a:avLst/>
          </a:prstGeom>
          <a:ln w="8890">
            <a:solidFill>
              <a:srgbClr val="2134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30352" y="6565392"/>
            <a:ext cx="59436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850" b="1" i="0">
                <a:solidFill>
                  <a:srgbClr val="A4B5C7"/>
                </a:solidFill>
                <a:latin typeface="Aptos"/>
              </a:rPr>
              <a:t>MICROBOARD STUDIO  •  CURIOUSPARC 2026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" y="6830568"/>
            <a:ext cx="9144" cy="9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Basis: uploaded MicroBoard Studio project documentation + prototype code/firmware; hackathon context from CuriousPARC official site.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502920"/>
            <a:ext cx="2011680" cy="329184"/>
          </a:xfrm>
          <a:prstGeom prst="roundRect">
            <a:avLst>
              <a:gd name="adj" fmla="val 12000"/>
            </a:avLst>
          </a:prstGeom>
          <a:solidFill>
            <a:srgbClr val="AFEB53"/>
          </a:solidFill>
          <a:ln>
            <a:solidFill>
              <a:srgbClr val="AFE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12064"/>
            <a:ext cx="201168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ctr"/>
            <a:r>
              <a:rPr sz="900" b="1" i="0">
                <a:solidFill>
                  <a:srgbClr val="070D18"/>
                </a:solidFill>
                <a:latin typeface="Aptos"/>
              </a:rPr>
              <a:t>CURIOUSPARC 2026  •  THEME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7772400" cy="6217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3800" b="1" i="0">
                <a:solidFill>
                  <a:srgbClr val="F4F8FC"/>
                </a:solidFill>
                <a:latin typeface="Aptos Display"/>
              </a:rPr>
              <a:t>MICROBOARD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965960"/>
            <a:ext cx="704088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2400" b="1" i="0">
                <a:solidFill>
                  <a:srgbClr val="2BD3E7"/>
                </a:solidFill>
                <a:latin typeface="Aptos"/>
              </a:rPr>
              <a:t>Make the invisible visible.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685800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800" b="0" i="0">
                <a:solidFill>
                  <a:srgbClr val="A4B5C7"/>
                </a:solidFill>
                <a:latin typeface="Aptos"/>
              </a:rPr>
              <a:t>A hardware-aware development and learning platform that connects
Arduino-level code to MCU internals and the physical board.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069080"/>
            <a:ext cx="3246120" cy="1234440"/>
          </a:xfrm>
          <a:prstGeom prst="roundRect">
            <a:avLst>
              <a:gd name="adj" fmla="val 12000"/>
            </a:avLst>
          </a:prstGeom>
          <a:solidFill>
            <a:srgbClr val="111D2F"/>
          </a:solidFill>
          <a:ln>
            <a:solidFill>
              <a:srgbClr val="21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4069080"/>
            <a:ext cx="64008" cy="1234440"/>
          </a:xfrm>
          <a:prstGeom prst="roundRect">
            <a:avLst>
              <a:gd name="adj" fmla="val 12000"/>
            </a:avLst>
          </a:prstGeom>
          <a:solidFill>
            <a:srgbClr val="2BD3E7"/>
          </a:solidFill>
          <a:ln>
            <a:solidFill>
              <a:srgbClr val="2BD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4270248"/>
            <a:ext cx="2834639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600" b="1" i="0">
                <a:solidFill>
                  <a:srgbClr val="F4F8FC"/>
                </a:solidFill>
                <a:latin typeface="Aptos Display"/>
              </a:rPr>
              <a:t>UNDERSTAND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4709160"/>
            <a:ext cx="2834639" cy="4663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050" b="0" i="0">
                <a:solidFill>
                  <a:srgbClr val="A4B5C7"/>
                </a:solidFill>
                <a:latin typeface="Aptos"/>
              </a:rPr>
              <a:t>See the path from pin to register.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4069080"/>
            <a:ext cx="3246120" cy="1234440"/>
          </a:xfrm>
          <a:prstGeom prst="roundRect">
            <a:avLst>
              <a:gd name="adj" fmla="val 12000"/>
            </a:avLst>
          </a:prstGeom>
          <a:solidFill>
            <a:srgbClr val="111D2F"/>
          </a:solidFill>
          <a:ln>
            <a:solidFill>
              <a:srgbClr val="21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114800" y="4069080"/>
            <a:ext cx="64008" cy="1234440"/>
          </a:xfrm>
          <a:prstGeom prst="roundRect">
            <a:avLst>
              <a:gd name="adj" fmla="val 12000"/>
            </a:avLst>
          </a:prstGeom>
          <a:solidFill>
            <a:srgbClr val="AFEB53"/>
          </a:solidFill>
          <a:ln>
            <a:solidFill>
              <a:srgbClr val="AFE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4256" y="4270248"/>
            <a:ext cx="2834639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600" b="1" i="0">
                <a:solidFill>
                  <a:srgbClr val="F4F8FC"/>
                </a:solidFill>
                <a:latin typeface="Aptos Display"/>
              </a:rPr>
              <a:t>CONNECT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4256" y="4709160"/>
            <a:ext cx="2834639" cy="4663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050" b="0" i="0">
                <a:solidFill>
                  <a:srgbClr val="A4B5C7"/>
                </a:solidFill>
                <a:latin typeface="Aptos"/>
              </a:rPr>
              <a:t>Control and read the real board.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71231" y="4069080"/>
            <a:ext cx="3246120" cy="1234440"/>
          </a:xfrm>
          <a:prstGeom prst="roundRect">
            <a:avLst>
              <a:gd name="adj" fmla="val 12000"/>
            </a:avLst>
          </a:prstGeom>
          <a:solidFill>
            <a:srgbClr val="111D2F"/>
          </a:solidFill>
          <a:ln>
            <a:solidFill>
              <a:srgbClr val="21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571231" y="4069080"/>
            <a:ext cx="64008" cy="1234440"/>
          </a:xfrm>
          <a:prstGeom prst="roundRect">
            <a:avLst>
              <a:gd name="adj" fmla="val 12000"/>
            </a:avLst>
          </a:prstGeom>
          <a:solidFill>
            <a:srgbClr val="9D7CFF"/>
          </a:solidFill>
          <a:ln>
            <a:solidFill>
              <a:srgbClr val="9D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90688" y="4270248"/>
            <a:ext cx="2834639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600" b="1" i="0">
                <a:solidFill>
                  <a:srgbClr val="F4F8FC"/>
                </a:solidFill>
                <a:latin typeface="Aptos Display"/>
              </a:rPr>
              <a:t>EXTEND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90688" y="4709160"/>
            <a:ext cx="2834639" cy="4663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1050" b="0" i="0">
                <a:solidFill>
                  <a:srgbClr val="A4B5C7"/>
                </a:solidFill>
                <a:latin typeface="Aptos"/>
              </a:rPr>
              <a:t>Evolve into a custom board platform.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5806440"/>
            <a:ext cx="18288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r"/>
            <a:r>
              <a:rPr sz="1800" b="1" i="0">
                <a:solidFill>
                  <a:srgbClr val="F4F8FC"/>
                </a:solidFill>
                <a:latin typeface="Aptos"/>
              </a:rPr>
              <a:t>THANK YOU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236208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900" b="0" i="0">
                <a:solidFill>
                  <a:srgbClr val="A4B5C7"/>
                </a:solidFill>
                <a:latin typeface="Aptos"/>
              </a:rPr>
              <a:t>MicroBoard Studio  |  Theme 7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02920" y="6519672"/>
            <a:ext cx="11183112" cy="0"/>
          </a:xfrm>
          <a:prstGeom prst="line">
            <a:avLst/>
          </a:prstGeom>
          <a:ln w="8890">
            <a:solidFill>
              <a:srgbClr val="2134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30352" y="6565392"/>
            <a:ext cx="59436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/>
            <a:r>
              <a:rPr sz="850" b="1" i="0">
                <a:solidFill>
                  <a:srgbClr val="A4B5C7"/>
                </a:solidFill>
                <a:latin typeface="Aptos"/>
              </a:rPr>
              <a:t>MICROBOARD STUDIO  •  BUILD YOUR OWN BOARDS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" y="6830568"/>
            <a:ext cx="9144" cy="9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Basis: uploaded MicroBoard Studio project documentation + prototype code/firmware; hackathon context from CuriousPARC official site.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MicroBoard Studio — CuriousPARC 2026 Submission</dc:title>
  <dc:subject>Theme 7: Build Your Own Boards</dc:subject>
  <dc:creator>MicroBoard Studio</dc:creator>
  <cp:keywords>CuriousPARC, MicroBoard Studio, Arduino, embedded systems, hardware, IoT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